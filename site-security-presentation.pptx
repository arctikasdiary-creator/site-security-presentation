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безопасность сайтов и распространённые уязвимости. Цель — показать базовые угрозы и практические меры защиты. Аудитория — студенты, начинающие разработчики и сотрудники для кибергигиены. План: масштаб проблем, триада CIA, OWASP Top 10, топ-3 риска, SQLi/XSS/CSRF, статистика, практические шаги. Фото: BalticServers.com, CC BY-SA 3.0,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Средний сайт имеет около 20 уязвимостей. Большинство атак — не изощрённый взлом, а базовые недочёты. Боты сканируют миллионы сайтов круглосуточно. Веб-приложения — главная цель: более 40% инцидентов. Цена ошибки: утечка персональных данных и штрафы, потеря репутации, финансовые потери и простой, попадание в чёрные списки и просадка SEO. Безопасность — не разовое действие, а постоянный процесс.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CIA: конфиденциальность — данные доступны только тем, кому положено; целостность — данные нельзя изменить незаметно; доступность — сайт и данные доступны легальным пользователям 24/7. Пример нарушения доступности — DDoS-атака. Нарушение любого из трёх принципов — инцидент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Top 10 — список самых критичных рисков веб-приложений. Его ведёт международное сообщество экспертов. Список обновляется каждые 3–4 года; актуальная редакция — 2025. Он покрывает контроль доступа, криптографию, инъекции, ошибки конфигурации и другие классы проблем. Редакция 2025 заметно изменила приоритеты: на первый план вышли контроль доступа, конфигурация и цепочка поставок.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Топ-3 OWASP 2025: A01 Broken Access Control — доступ к чужим данным и функциям; A02 Security Misconfiguration — ошибки конфигурации, «незакрытые двери»; A03 Software Supply Chain Failures — компрометация сторонних библиотек, плагинов и CDN. Все три — типовые ошибки эксплуатации, а не экзотические атаки.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A01 Broken Access Control: пользователь получает доступ к чужим данным или действиям. Примеры: просмотр чужих заказов по ID в URL, редактирование чужого профиля, IDOR (/user/123 → /user/124), админ-панель без авторизации. Защита: проверять права на каждом серверном запросе, а не только в интерфейсе; принцип наименьших привилегий; не полагаться на скрытность. Пример кода: if (order.userId !== req.user.id) return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A02 Security Misconfiguration: неправильные настройки сервера, фреймворка или облака. Примеры: открытые S3-бакеты, пароли admin/admin, подробные stack trace, debug в проде, открытые порты и БД без пароля. Защита: автоматизированный аудит конфигураций, разделение dev/staging/prod, минимальные права сервисных аккаунтов, удаление неиспользуемого ПО, скрытие технических деталей ошибок.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A03 Software Supply Chain Failures: атака через сторонние компоненты. Примеры: вредоносный код в популярном npm-пакете, скомпрометированное обновление плагина CMS, атака на CDN или хостинг, старые версии библиотек с известными уязвимостями. Защита: SBOM, проверка зависимостей (Snyk, Dependabot, OWASP Dependency-Check), фиксация версий и контроль обновлений. Вы не контролируете чужой код, но отвечаете за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SQL-инъекция: злоумышленник внедряет SQL-код через поля ввода — логин, поиск, параметры URL. Пример: логин ' OR '1'='1 обходит проверку пароля. Последствия: полный доступ к БД, кража, изменение и удаление данных. Защита: prepared statements и параметризованные запросы; никогда не склеивать SQL со вводом пользователя.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XSS: злоумышленник внедряет вредоносный JavaScript, который выполняется в браузере жертвы. Виды: хранимый (в комментариях, профилях) и отражённый (в ссылках). Последствия: кража cookie и сессий, фишинг-редиректы, подмена контента. Защита: экранирование вывода (output encoding), Content Security Policy, валидация ввода.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CSRF: злоумышленник заставляет браузер авторизованного пользователя выполнить нежелательное действие на сайте — например, перевести деньги. Сценарий: жертва авторизована в банке, заходит на сайт злоумышленника, скрытая форма отправляет запрос в банк, браузер автоматически прикладывает cookie. Защита: CSRF-токены, проверка Origin/Referer, флаг SameSite для cookie.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Barracuda Networks, 2026: раскрытие информации — 25%, подделка бренда и фишинг — 24%, клиентские атаки (XSS) — 14%, утечка секретов и токенов — 10%, прочее — 27%. Другие угрозы: DDoS (сайт кладут тысячи запросов; защита — Cloudflare, фильтрация трафика), фишинг (поддельные страницы крадут пароли; 2FA, обучение), SSRF (сервер сам обращается во внутреннюю сеть; белые списки, изоляция).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Девять правил: контроль доступа на сервере, валидация ввода, экранирование вывода, хеширование паролей bcrypt/Argon2, HTTPS, обновления CMS/фреймворков/библиотек, гигиена настроек, регулярное сканирование (SAST/DAST/пентесты), обучение команды. Инструменты: DAST — OWASP ZAP, Burp Suite, Nessus; зависимости — Snyk, Dependabot, OWASP Dependency-Check; SAST — SonarQube, Semgrep; мониторинг и защита — SIEM, WAF (Cloudflare, AWS WAF). Если формат позволяет, можно показать демо на DVWA.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Выводы: угрозы смещаются от чистых ошибок кода к конфигурации и цепочке поставок. Большинство проблем базовые и предотвратимые. Безопасность — путь, а не пункт назначения; абсолютно защищённых сайтов нет, но можно сделать взлом трудным и невыгодным. Zero Trust: «не доверяй, но проверяй». Начните с контроля доступа и гигиены настроек — это даёт около 80% результата. Регулярные пентесты. Спасибо за внимание. Фото: Ivan Radic, CC BY 2.0; BalticServers.com, CC BY-SA 3.0; RustCodeOnScreen, CC0, Wikimedia Commons.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2.png"/><Relationship Id="rId6" Type="http://schemas.openxmlformats.org/officeDocument/2006/relationships/image" Target="../media/image-3-3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6.png"/><Relationship Id="rId9" Type="http://schemas.openxmlformats.org/officeDocument/2006/relationships/image" Target="../media/image-8-6.png"/><Relationship Id="rId10" Type="http://schemas.openxmlformats.org/officeDocument/2006/relationships/image" Target="../media/image-8-10.png"/><Relationship Id="rId11" Type="http://schemas.openxmlformats.org/officeDocument/2006/relationships/image" Target="../media/image-8-10.png"/><Relationship Id="rId12" Type="http://schemas.openxmlformats.org/officeDocument/2006/relationships/image" Target="../media/image-8-10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1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14-2.png"/><Relationship Id="rId6" Type="http://schemas.openxmlformats.org/officeDocument/2006/relationships/image" Target="../media/image-14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ерверная стойка с синей подсветко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420624"/>
            <a:ext cx="219456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24128" y="32918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КИБЕРГИГИЕНА · ОБЗОР 2025–2026</a:t>
            </a:r>
            <a:endParaRPr lang="en-US" sz="86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3502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3055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распространённые уязвимости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1272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защитить данные и не стать жертвой хакеров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9808" y="3822192"/>
            <a:ext cx="1234440" cy="32004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" y="40050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Обзор актуальных угроз и методов защиты · 2025–2026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Учебная презентация · 14 слайдов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49808" y="4645152"/>
            <a:ext cx="1417320" cy="310896"/>
          </a:xfrm>
          <a:prstGeom prst="roundRect">
            <a:avLst>
              <a:gd name="adj" fmla="val 147059"/>
            </a:avLst>
          </a:prstGeom>
          <a:solidFill>
            <a:srgbClr val="0E1B31"/>
          </a:solidFill>
          <a:ln w="10160">
            <a:solidFill>
              <a:srgbClr val="2E44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4654296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spc="20" kern="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Top 10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313432" y="4645152"/>
            <a:ext cx="713232" cy="310896"/>
          </a:xfrm>
          <a:prstGeom prst="roundRect">
            <a:avLst>
              <a:gd name="adj" fmla="val 147059"/>
            </a:avLst>
          </a:prstGeom>
          <a:solidFill>
            <a:srgbClr val="0E1B31"/>
          </a:solidFill>
          <a:ln w="10160">
            <a:solidFill>
              <a:srgbClr val="2E44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23160" y="465429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spc="20" kern="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172968" y="4645152"/>
            <a:ext cx="658368" cy="310896"/>
          </a:xfrm>
          <a:prstGeom prst="roundRect">
            <a:avLst>
              <a:gd name="adj" fmla="val 147059"/>
            </a:avLst>
          </a:prstGeom>
          <a:solidFill>
            <a:srgbClr val="0E1B31"/>
          </a:solidFill>
          <a:ln w="10160">
            <a:solidFill>
              <a:srgbClr val="2E44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82696" y="465429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spc="20" kern="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3977640" y="4645152"/>
            <a:ext cx="749808" cy="310896"/>
          </a:xfrm>
          <a:prstGeom prst="roundRect">
            <a:avLst>
              <a:gd name="adj" fmla="val 147059"/>
            </a:avLst>
          </a:prstGeom>
          <a:solidFill>
            <a:srgbClr val="0E1B31"/>
          </a:solidFill>
          <a:ln w="10160">
            <a:solidFill>
              <a:srgbClr val="2E44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87368" y="46542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spc="20" kern="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ЗАЧЕМ ЭТО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это важно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Сайт — это не только код, но и данные, репутация и деньги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14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12648" y="1901952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≈20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27249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уязвимостей в среднем на сайте</a:t>
            </a:r>
            <a:endParaRPr lang="en-US" sz="940" dirty="0"/>
          </a:p>
        </p:txBody>
      </p:sp>
      <p:pic>
        <p:nvPicPr>
          <p:cNvPr id="14" name="Image 0" descr="уязвимостей в среднем на сай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6744" y="2057400"/>
            <a:ext cx="329184" cy="3291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32104" y="3127248"/>
            <a:ext cx="502920" cy="27432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16" name="Shape 12"/>
          <p:cNvSpPr/>
          <p:nvPr/>
        </p:nvSpPr>
        <p:spPr>
          <a:xfrm>
            <a:off x="4315968" y="1901952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35424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2C1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&gt;40%</a:t>
            </a:r>
            <a:endParaRPr lang="en-US" sz="3800" dirty="0"/>
          </a:p>
        </p:txBody>
      </p:sp>
      <p:sp>
        <p:nvSpPr>
          <p:cNvPr id="18" name="Text 14"/>
          <p:cNvSpPr txBox="1"/>
          <p:nvPr/>
        </p:nvSpPr>
        <p:spPr>
          <a:xfrm>
            <a:off x="4544568" y="27249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инцидентов — атаки на веб-приложения</a:t>
            </a:r>
            <a:endParaRPr lang="en-US" sz="940" dirty="0"/>
          </a:p>
        </p:txBody>
      </p:sp>
      <p:pic>
        <p:nvPicPr>
          <p:cNvPr id="19" name="Image 1" descr="инцидентов — атаки на веб-приложен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057400"/>
            <a:ext cx="329184" cy="32918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35424" y="3127248"/>
            <a:ext cx="502920" cy="27432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21" name="Shape 16"/>
          <p:cNvSpPr/>
          <p:nvPr/>
        </p:nvSpPr>
        <p:spPr>
          <a:xfrm>
            <a:off x="8019288" y="1901952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38744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</a:t>
            </a:r>
            <a:endParaRPr lang="en-US" sz="3800" dirty="0"/>
          </a:p>
        </p:txBody>
      </p:sp>
      <p:sp>
        <p:nvSpPr>
          <p:cNvPr id="23" name="Text 18"/>
          <p:cNvSpPr txBox="1"/>
          <p:nvPr/>
        </p:nvSpPr>
        <p:spPr>
          <a:xfrm>
            <a:off x="8247888" y="27249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боты автоматически сканируют сайты</a:t>
            </a:r>
            <a:endParaRPr lang="en-US" sz="940" dirty="0"/>
          </a:p>
        </p:txBody>
      </p:sp>
      <p:pic>
        <p:nvPicPr>
          <p:cNvPr id="24" name="Image 2" descr="боты автоматически сканируют сайт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384" y="2057400"/>
            <a:ext cx="329184" cy="32918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38744" y="3127248"/>
            <a:ext cx="502920" cy="2743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6" name="Shape 20"/>
          <p:cNvSpPr/>
          <p:nvPr/>
        </p:nvSpPr>
        <p:spPr>
          <a:xfrm>
            <a:off x="612648" y="3529584"/>
            <a:ext cx="6400800" cy="2130552"/>
          </a:xfrm>
          <a:prstGeom prst="roundRect">
            <a:avLst>
              <a:gd name="adj" fmla="val 3433"/>
            </a:avLst>
          </a:prstGeom>
          <a:solidFill>
            <a:srgbClr val="2A121C"/>
          </a:solidFill>
          <a:ln w="10160">
            <a:solidFill>
              <a:srgbClr val="5A2530"/>
            </a:solidFill>
            <a:prstDash val="solid"/>
          </a:ln>
        </p:spPr>
      </p:sp>
      <p:pic>
        <p:nvPicPr>
          <p:cNvPr id="27" name="Image 3" descr="Опасност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31920"/>
            <a:ext cx="731520" cy="7315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828800" y="376732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Большинство атак —</a:t>
            </a:r>
            <a:endParaRPr lang="en-US" sz="1900" dirty="0"/>
          </a:p>
        </p:txBody>
      </p:sp>
      <p:sp>
        <p:nvSpPr>
          <p:cNvPr id="29" name="Text 22"/>
          <p:cNvSpPr txBox="1"/>
          <p:nvPr/>
        </p:nvSpPr>
        <p:spPr>
          <a:xfrm>
            <a:off x="182880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изощрённый взлом,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1828800" y="45537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 базовые недочёты.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1828800" y="5074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Их можно закрыть без сложных технологий.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7223760" y="3529584"/>
            <a:ext cx="4361688" cy="2130552"/>
          </a:xfrm>
          <a:prstGeom prst="roundRect">
            <a:avLst>
              <a:gd name="adj" fmla="val 34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443216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Цена ошибки</a:t>
            </a:r>
            <a:endParaRPr lang="en-US" sz="1400" dirty="0"/>
          </a:p>
        </p:txBody>
      </p:sp>
      <p:pic>
        <p:nvPicPr>
          <p:cNvPr id="34" name="Image 4" descr="Утечка данных и штрафы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4087368"/>
            <a:ext cx="164592" cy="16459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671816" y="40599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Утечка данных и штрафы</a:t>
            </a:r>
            <a:endParaRPr lang="en-US" sz="960" dirty="0"/>
          </a:p>
        </p:txBody>
      </p:sp>
      <p:pic>
        <p:nvPicPr>
          <p:cNvPr id="36" name="Image 5" descr="Потеря репутации и доверия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4425696"/>
            <a:ext cx="164592" cy="16459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671816" y="43982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Потеря репутации и доверия</a:t>
            </a:r>
            <a:endParaRPr lang="en-US" sz="960" dirty="0"/>
          </a:p>
        </p:txBody>
      </p:sp>
      <p:pic>
        <p:nvPicPr>
          <p:cNvPr id="38" name="Image 6" descr="Финансовые потери и простой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4764024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671816" y="4736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Финансовые потери и простой</a:t>
            </a:r>
            <a:endParaRPr lang="en-US" sz="960" dirty="0"/>
          </a:p>
        </p:txBody>
      </p:sp>
      <p:pic>
        <p:nvPicPr>
          <p:cNvPr id="40" name="Image 7" descr="Чёрные списки и просадка SE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3216" y="5102352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671816" y="5074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Чёрные списки и просадка SEO</a:t>
            </a:r>
            <a:endParaRPr lang="en-US" sz="960" dirty="0"/>
          </a:p>
        </p:txBody>
      </p:sp>
      <p:sp>
        <p:nvSpPr>
          <p:cNvPr id="42" name="Shape 31"/>
          <p:cNvSpPr/>
          <p:nvPr/>
        </p:nvSpPr>
        <p:spPr>
          <a:xfrm>
            <a:off x="612648" y="5833872"/>
            <a:ext cx="10972800" cy="484632"/>
          </a:xfrm>
          <a:prstGeom prst="roundRect">
            <a:avLst>
              <a:gd name="adj" fmla="val 94340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43" name="Image 8" descr="shield-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5943600"/>
            <a:ext cx="256032" cy="25603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133856" y="59161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— это постоянный процесс, а не разовая настройка.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ПРИНЦИПЫ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Триада CIA — фундамент безопасности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Конфиденциальность · Целостность · Доступность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14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12648" y="1938528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" y="2084832"/>
            <a:ext cx="54864" cy="804672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13" name="Image 0" descr="Конфиденциальнос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42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99032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Конфиденциальность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399032" y="2441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доступны только тем, кому положено.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" y="3182112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" y="3328416"/>
            <a:ext cx="54864" cy="804672"/>
          </a:xfrm>
          <a:prstGeom prst="rect">
            <a:avLst/>
          </a:prstGeom>
          <a:solidFill>
            <a:srgbClr val="35D07F"/>
          </a:solidFill>
          <a:ln/>
        </p:spPr>
      </p:sp>
      <p:pic>
        <p:nvPicPr>
          <p:cNvPr id="18" name="Image 1" descr="Целостност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4787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99032" y="3346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Целостность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399032" y="36850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нельзя изменить незаметно.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2648" y="4425696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2648" y="4572000"/>
            <a:ext cx="54864" cy="804672"/>
          </a:xfrm>
          <a:prstGeom prst="rect">
            <a:avLst/>
          </a:prstGeom>
          <a:solidFill>
            <a:srgbClr val="F2C14E"/>
          </a:solidFill>
          <a:ln/>
        </p:spPr>
      </p:sp>
      <p:pic>
        <p:nvPicPr>
          <p:cNvPr id="23" name="Image 2" descr="Доступност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9145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99032" y="4590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Доступность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399032" y="49286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Сайт и данные доступны легальным пользователям 24/7.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732520" y="2651760"/>
            <a:ext cx="-1508760" cy="219456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none"/>
          </a:ln>
        </p:spPr>
      </p:sp>
      <p:sp>
        <p:nvSpPr>
          <p:cNvPr id="27" name="Shape 21"/>
          <p:cNvSpPr/>
          <p:nvPr/>
        </p:nvSpPr>
        <p:spPr>
          <a:xfrm>
            <a:off x="8732520" y="2651760"/>
            <a:ext cx="1508760" cy="219456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none"/>
          </a:ln>
        </p:spPr>
      </p:sp>
      <p:sp>
        <p:nvSpPr>
          <p:cNvPr id="28" name="Shape 22"/>
          <p:cNvSpPr/>
          <p:nvPr/>
        </p:nvSpPr>
        <p:spPr>
          <a:xfrm>
            <a:off x="7223760" y="4846320"/>
            <a:ext cx="3017520" cy="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none"/>
          </a:ln>
        </p:spPr>
      </p:sp>
      <p:sp>
        <p:nvSpPr>
          <p:cNvPr id="29" name="Shape 23"/>
          <p:cNvSpPr/>
          <p:nvPr/>
        </p:nvSpPr>
        <p:spPr>
          <a:xfrm>
            <a:off x="8161020" y="2080260"/>
            <a:ext cx="1143000" cy="1143000"/>
          </a:xfrm>
          <a:prstGeom prst="ellipse">
            <a:avLst/>
          </a:prstGeom>
          <a:solidFill>
            <a:srgbClr val="0E1B31"/>
          </a:solidFill>
          <a:ln w="25400">
            <a:solidFill>
              <a:srgbClr val="5B8DEF"/>
            </a:solidFill>
            <a:prstDash val="solid"/>
          </a:ln>
        </p:spPr>
      </p:sp>
      <p:pic>
        <p:nvPicPr>
          <p:cNvPr id="30" name="Image 3" descr="Confidential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231136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50392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8074152" y="299923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spc="8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Confidentiality</a:t>
            </a:r>
            <a:endParaRPr lang="en-US" sz="680" dirty="0"/>
          </a:p>
        </p:txBody>
      </p:sp>
      <p:sp>
        <p:nvSpPr>
          <p:cNvPr id="33" name="Shape 26"/>
          <p:cNvSpPr/>
          <p:nvPr/>
        </p:nvSpPr>
        <p:spPr>
          <a:xfrm>
            <a:off x="6652260" y="4274820"/>
            <a:ext cx="1143000" cy="1143000"/>
          </a:xfrm>
          <a:prstGeom prst="ellipse">
            <a:avLst/>
          </a:prstGeom>
          <a:solidFill>
            <a:srgbClr val="0E1B31"/>
          </a:solidFill>
          <a:ln w="25400">
            <a:solidFill>
              <a:srgbClr val="35D07F"/>
            </a:solidFill>
            <a:prstDash val="solid"/>
          </a:ln>
        </p:spPr>
      </p:sp>
      <p:pic>
        <p:nvPicPr>
          <p:cNvPr id="34" name="Image 4" descr="Integr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425696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95160" y="4773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6565392" y="519379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spc="8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680" dirty="0"/>
          </a:p>
        </p:txBody>
      </p:sp>
      <p:sp>
        <p:nvSpPr>
          <p:cNvPr id="37" name="Shape 29"/>
          <p:cNvSpPr/>
          <p:nvPr/>
        </p:nvSpPr>
        <p:spPr>
          <a:xfrm>
            <a:off x="9669780" y="4274820"/>
            <a:ext cx="1143000" cy="1143000"/>
          </a:xfrm>
          <a:prstGeom prst="ellipse">
            <a:avLst/>
          </a:prstGeom>
          <a:solidFill>
            <a:srgbClr val="0E1B31"/>
          </a:solidFill>
          <a:ln w="25400">
            <a:solidFill>
              <a:srgbClr val="F2C14E"/>
            </a:solidFill>
            <a:prstDash val="solid"/>
          </a:ln>
        </p:spPr>
      </p:sp>
      <p:pic>
        <p:nvPicPr>
          <p:cNvPr id="38" name="Image 5" descr="Availabi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4425696"/>
            <a:ext cx="310896" cy="31089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012680" y="4773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400" dirty="0"/>
          </a:p>
        </p:txBody>
      </p:sp>
      <p:sp>
        <p:nvSpPr>
          <p:cNvPr id="40" name="Text 31"/>
          <p:cNvSpPr txBox="1"/>
          <p:nvPr/>
        </p:nvSpPr>
        <p:spPr>
          <a:xfrm>
            <a:off x="9582912" y="519379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spc="8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</a:t>
            </a:r>
            <a:endParaRPr lang="en-US" sz="680" dirty="0"/>
          </a:p>
        </p:txBody>
      </p:sp>
      <p:sp>
        <p:nvSpPr>
          <p:cNvPr id="41" name="Text 32"/>
          <p:cNvSpPr txBox="1"/>
          <p:nvPr/>
        </p:nvSpPr>
        <p:spPr>
          <a:xfrm>
            <a:off x="836676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CIA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12648" y="5779008"/>
            <a:ext cx="10972800" cy="530352"/>
          </a:xfrm>
          <a:prstGeom prst="roundRect">
            <a:avLst>
              <a:gd name="adj" fmla="val 86207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pic>
        <p:nvPicPr>
          <p:cNvPr id="43" name="Image 6" descr="triangle-ale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907024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152144" y="58978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 — атака на доступность. Нарушение любого принципа — инцидент.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ОРИЕНТИР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Top 10 — главный ориентир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разработчики и тестировщики используют как базу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14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1938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Единый язык для команд и аудиторов.</a:t>
            </a:r>
            <a:endParaRPr lang="en-US" sz="1400" dirty="0"/>
          </a:p>
        </p:txBody>
      </p:sp>
      <p:pic>
        <p:nvPicPr>
          <p:cNvPr id="12" name="Image 0" descr="Международное сообщество эксперт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54203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1248" y="25146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Международное сообщество экспертов</a:t>
            </a:r>
            <a:endParaRPr lang="en-US" sz="1080" dirty="0"/>
          </a:p>
        </p:txBody>
      </p:sp>
      <p:pic>
        <p:nvPicPr>
          <p:cNvPr id="14" name="Image 1" descr="Обновляется каждые 3–4 год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10896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" y="308152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Обновляется каждые 3–4 года</a:t>
            </a:r>
            <a:endParaRPr lang="en-US" sz="1080" dirty="0"/>
          </a:p>
        </p:txBody>
      </p:sp>
      <p:pic>
        <p:nvPicPr>
          <p:cNvPr id="16" name="Image 2" descr="Покрывает доступ, криптографию, инъекци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67588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" y="364845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Покрывает доступ, криптографию, инъекции</a:t>
            </a:r>
            <a:endParaRPr lang="en-US" sz="1080" dirty="0"/>
          </a:p>
        </p:txBody>
      </p:sp>
      <p:pic>
        <p:nvPicPr>
          <p:cNvPr id="18" name="Image 3" descr="Редакция 2025 изменила приоритет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242816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1248" y="421538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Редакция 2025 изменила приоритеты</a:t>
            </a:r>
            <a:endParaRPr lang="en-US" sz="1080" dirty="0"/>
          </a:p>
        </p:txBody>
      </p:sp>
      <p:sp>
        <p:nvSpPr>
          <p:cNvPr id="20" name="Shape 13"/>
          <p:cNvSpPr/>
          <p:nvPr/>
        </p:nvSpPr>
        <p:spPr>
          <a:xfrm>
            <a:off x="704088" y="5230368"/>
            <a:ext cx="4846320" cy="0"/>
          </a:xfrm>
          <a:prstGeom prst="line">
            <a:avLst/>
          </a:prstGeom>
          <a:noFill/>
          <a:ln w="15240">
            <a:solidFill>
              <a:srgbClr val="2E446B"/>
            </a:solidFill>
            <a:prstDash val="solid"/>
            <a:headEnd type="none"/>
            <a:tailEnd type="none"/>
          </a:ln>
        </p:spPr>
      </p:sp>
      <p:sp>
        <p:nvSpPr>
          <p:cNvPr id="21" name="Shape 14"/>
          <p:cNvSpPr/>
          <p:nvPr/>
        </p:nvSpPr>
        <p:spPr>
          <a:xfrm>
            <a:off x="649224" y="5175504"/>
            <a:ext cx="109728" cy="1097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384048" y="53766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2021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2980944" y="5175504"/>
            <a:ext cx="109728" cy="109728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2715768" y="53766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5312664" y="5175504"/>
            <a:ext cx="109728" cy="10972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5047488" y="53766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далее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612648" y="5852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Редакция 2025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720840" y="187452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967728" y="2057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6949440" y="22677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</a:t>
            </a:r>
            <a:endParaRPr lang="en-US" sz="3400" dirty="0"/>
          </a:p>
        </p:txBody>
      </p:sp>
      <p:sp>
        <p:nvSpPr>
          <p:cNvPr id="31" name="Shape 24"/>
          <p:cNvSpPr/>
          <p:nvPr/>
        </p:nvSpPr>
        <p:spPr>
          <a:xfrm>
            <a:off x="10241280" y="2121408"/>
            <a:ext cx="1051560" cy="292608"/>
          </a:xfrm>
          <a:prstGeom prst="roundRect">
            <a:avLst>
              <a:gd name="adj" fmla="val 156250"/>
            </a:avLst>
          </a:prstGeom>
          <a:solidFill>
            <a:srgbClr val="2A121C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0351008" y="213055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6931152" y="28986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680" dirty="0"/>
          </a:p>
        </p:txBody>
      </p:sp>
      <p:sp>
        <p:nvSpPr>
          <p:cNvPr id="34" name="Shape 27"/>
          <p:cNvSpPr/>
          <p:nvPr/>
        </p:nvSpPr>
        <p:spPr>
          <a:xfrm>
            <a:off x="7360920" y="292608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35" name="Shape 28"/>
          <p:cNvSpPr/>
          <p:nvPr/>
        </p:nvSpPr>
        <p:spPr>
          <a:xfrm>
            <a:off x="7360920" y="2926080"/>
            <a:ext cx="3520440" cy="96012"/>
          </a:xfrm>
          <a:prstGeom prst="roundRect">
            <a:avLst>
              <a:gd name="adj" fmla="val 190476"/>
            </a:avLst>
          </a:prstGeom>
          <a:solidFill>
            <a:srgbClr val="FF4D5E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931152" y="31729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680" dirty="0"/>
          </a:p>
        </p:txBody>
      </p:sp>
      <p:sp>
        <p:nvSpPr>
          <p:cNvPr id="37" name="Shape 30"/>
          <p:cNvSpPr/>
          <p:nvPr/>
        </p:nvSpPr>
        <p:spPr>
          <a:xfrm>
            <a:off x="7360920" y="320040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38" name="Shape 31"/>
          <p:cNvSpPr/>
          <p:nvPr/>
        </p:nvSpPr>
        <p:spPr>
          <a:xfrm>
            <a:off x="7360920" y="3200400"/>
            <a:ext cx="3246120" cy="96012"/>
          </a:xfrm>
          <a:prstGeom prst="roundRect">
            <a:avLst>
              <a:gd name="adj" fmla="val 190476"/>
            </a:avLst>
          </a:prstGeom>
          <a:solidFill>
            <a:srgbClr val="F2C14E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6931152" y="34472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680" dirty="0"/>
          </a:p>
        </p:txBody>
      </p:sp>
      <p:sp>
        <p:nvSpPr>
          <p:cNvPr id="40" name="Shape 33"/>
          <p:cNvSpPr/>
          <p:nvPr/>
        </p:nvSpPr>
        <p:spPr>
          <a:xfrm>
            <a:off x="7360920" y="347472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41" name="Shape 34"/>
          <p:cNvSpPr/>
          <p:nvPr/>
        </p:nvSpPr>
        <p:spPr>
          <a:xfrm>
            <a:off x="7360920" y="3474720"/>
            <a:ext cx="2999232" cy="96012"/>
          </a:xfrm>
          <a:prstGeom prst="roundRect">
            <a:avLst>
              <a:gd name="adj" fmla="val 190476"/>
            </a:avLst>
          </a:prstGeom>
          <a:solidFill>
            <a:srgbClr val="FF4D5E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6931152" y="37216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A04</a:t>
            </a:r>
            <a:endParaRPr lang="en-US" sz="680" dirty="0"/>
          </a:p>
        </p:txBody>
      </p:sp>
      <p:sp>
        <p:nvSpPr>
          <p:cNvPr id="43" name="Shape 36"/>
          <p:cNvSpPr/>
          <p:nvPr/>
        </p:nvSpPr>
        <p:spPr>
          <a:xfrm>
            <a:off x="7360920" y="374904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44" name="Shape 37"/>
          <p:cNvSpPr/>
          <p:nvPr/>
        </p:nvSpPr>
        <p:spPr>
          <a:xfrm>
            <a:off x="7360920" y="3749040"/>
            <a:ext cx="233172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6931152" y="3995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A05</a:t>
            </a:r>
            <a:endParaRPr lang="en-US" sz="680" dirty="0"/>
          </a:p>
        </p:txBody>
      </p:sp>
      <p:sp>
        <p:nvSpPr>
          <p:cNvPr id="46" name="Shape 39"/>
          <p:cNvSpPr/>
          <p:nvPr/>
        </p:nvSpPr>
        <p:spPr>
          <a:xfrm>
            <a:off x="7360920" y="402336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47" name="Shape 40"/>
          <p:cNvSpPr/>
          <p:nvPr/>
        </p:nvSpPr>
        <p:spPr>
          <a:xfrm>
            <a:off x="7360920" y="4023360"/>
            <a:ext cx="201168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6931152" y="42702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A06</a:t>
            </a:r>
            <a:endParaRPr lang="en-US" sz="680" dirty="0"/>
          </a:p>
        </p:txBody>
      </p:sp>
      <p:sp>
        <p:nvSpPr>
          <p:cNvPr id="49" name="Shape 42"/>
          <p:cNvSpPr/>
          <p:nvPr/>
        </p:nvSpPr>
        <p:spPr>
          <a:xfrm>
            <a:off x="7360920" y="429768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50" name="Shape 43"/>
          <p:cNvSpPr/>
          <p:nvPr/>
        </p:nvSpPr>
        <p:spPr>
          <a:xfrm>
            <a:off x="7360920" y="4297680"/>
            <a:ext cx="178308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6931152" y="45445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A07</a:t>
            </a:r>
            <a:endParaRPr lang="en-US" sz="680" dirty="0"/>
          </a:p>
        </p:txBody>
      </p:sp>
      <p:sp>
        <p:nvSpPr>
          <p:cNvPr id="52" name="Shape 45"/>
          <p:cNvSpPr/>
          <p:nvPr/>
        </p:nvSpPr>
        <p:spPr>
          <a:xfrm>
            <a:off x="7360920" y="457200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53" name="Shape 46"/>
          <p:cNvSpPr/>
          <p:nvPr/>
        </p:nvSpPr>
        <p:spPr>
          <a:xfrm>
            <a:off x="7360920" y="4572000"/>
            <a:ext cx="155448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6931152" y="48188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A08</a:t>
            </a:r>
            <a:endParaRPr lang="en-US" sz="680" dirty="0"/>
          </a:p>
        </p:txBody>
      </p:sp>
      <p:sp>
        <p:nvSpPr>
          <p:cNvPr id="55" name="Shape 48"/>
          <p:cNvSpPr/>
          <p:nvPr/>
        </p:nvSpPr>
        <p:spPr>
          <a:xfrm>
            <a:off x="7360920" y="484632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56" name="Shape 49"/>
          <p:cNvSpPr/>
          <p:nvPr/>
        </p:nvSpPr>
        <p:spPr>
          <a:xfrm>
            <a:off x="7360920" y="4846320"/>
            <a:ext cx="132588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6931152" y="50932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A09</a:t>
            </a:r>
            <a:endParaRPr lang="en-US" sz="680" dirty="0"/>
          </a:p>
        </p:txBody>
      </p:sp>
      <p:sp>
        <p:nvSpPr>
          <p:cNvPr id="58" name="Shape 51"/>
          <p:cNvSpPr/>
          <p:nvPr/>
        </p:nvSpPr>
        <p:spPr>
          <a:xfrm>
            <a:off x="7360920" y="512064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59" name="Shape 52"/>
          <p:cNvSpPr/>
          <p:nvPr/>
        </p:nvSpPr>
        <p:spPr>
          <a:xfrm>
            <a:off x="7360920" y="5120640"/>
            <a:ext cx="109728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6931152" y="5367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dirty="0">
                <a:solidFill>
                  <a:srgbClr val="728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A10</a:t>
            </a:r>
            <a:endParaRPr lang="en-US" sz="680" dirty="0"/>
          </a:p>
        </p:txBody>
      </p:sp>
      <p:sp>
        <p:nvSpPr>
          <p:cNvPr id="61" name="Shape 54"/>
          <p:cNvSpPr/>
          <p:nvPr/>
        </p:nvSpPr>
        <p:spPr>
          <a:xfrm>
            <a:off x="7360920" y="5394960"/>
            <a:ext cx="3657600" cy="96012"/>
          </a:xfrm>
          <a:prstGeom prst="rect">
            <a:avLst/>
          </a:prstGeom>
          <a:solidFill>
            <a:srgbClr val="13223C"/>
          </a:solidFill>
          <a:ln/>
        </p:spPr>
      </p:sp>
      <p:sp>
        <p:nvSpPr>
          <p:cNvPr id="62" name="Shape 55"/>
          <p:cNvSpPr/>
          <p:nvPr/>
        </p:nvSpPr>
        <p:spPr>
          <a:xfrm>
            <a:off x="7360920" y="5394960"/>
            <a:ext cx="868680" cy="96012"/>
          </a:xfrm>
          <a:prstGeom prst="roundRect">
            <a:avLst>
              <a:gd name="adj" fmla="val 190476"/>
            </a:avLst>
          </a:prstGeom>
          <a:solidFill>
            <a:srgbClr val="5B8DEF"/>
          </a:solidFill>
          <a:ln/>
        </p:spPr>
      </p:sp>
      <p:sp>
        <p:nvSpPr>
          <p:cNvPr id="63" name="Text 56"/>
          <p:cNvSpPr txBox="1"/>
          <p:nvPr/>
        </p:nvSpPr>
        <p:spPr>
          <a:xfrm>
            <a:off x="6949440" y="56509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категорий риска · базовый уровень гигиены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РИСКИ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Топ-3 риска OWASP 2025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Самые частые и самые дорогие ошибки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14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12648" y="1901952"/>
            <a:ext cx="3566160" cy="3913632"/>
          </a:xfrm>
          <a:prstGeom prst="roundRect">
            <a:avLst>
              <a:gd name="adj" fmla="val 2051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" y="1901952"/>
            <a:ext cx="3566160" cy="6400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816" y="2103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800" dirty="0"/>
          </a:p>
        </p:txBody>
      </p:sp>
      <p:pic>
        <p:nvPicPr>
          <p:cNvPr id="14" name="Image 0" descr="Нарушения контроля доступ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576" y="22128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2104" y="2852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A01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832104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Нарушения контроля доступа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832104" y="384048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 к чужим данным и функциям: заказы, профили, админка.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32104" y="5285232"/>
            <a:ext cx="1371600" cy="274320"/>
          </a:xfrm>
          <a:prstGeom prst="roundRect">
            <a:avLst>
              <a:gd name="adj" fmla="val 166667"/>
            </a:avLst>
          </a:prstGeom>
          <a:solidFill>
            <a:srgbClr val="07101F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4183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доступ</a:t>
            </a:r>
            <a:endParaRPr lang="en-US" sz="740" dirty="0"/>
          </a:p>
        </p:txBody>
      </p:sp>
      <p:sp>
        <p:nvSpPr>
          <p:cNvPr id="20" name="Shape 16"/>
          <p:cNvSpPr/>
          <p:nvPr/>
        </p:nvSpPr>
        <p:spPr>
          <a:xfrm>
            <a:off x="4315968" y="1901952"/>
            <a:ext cx="3566160" cy="3913632"/>
          </a:xfrm>
          <a:prstGeom prst="roundRect">
            <a:avLst>
              <a:gd name="adj" fmla="val 2051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15968" y="1901952"/>
            <a:ext cx="3566160" cy="64008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517136" y="2103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2C1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800" dirty="0"/>
          </a:p>
        </p:txBody>
      </p:sp>
      <p:pic>
        <p:nvPicPr>
          <p:cNvPr id="23" name="Image 1" descr="Ошибки конфигураци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221284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535424" y="2852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A02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4535424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Ошибки конфигурации</a:t>
            </a:r>
            <a:endParaRPr lang="en-US" sz="1450" dirty="0"/>
          </a:p>
        </p:txBody>
      </p:sp>
      <p:sp>
        <p:nvSpPr>
          <p:cNvPr id="26" name="Text 21"/>
          <p:cNvSpPr txBox="1"/>
          <p:nvPr/>
        </p:nvSpPr>
        <p:spPr>
          <a:xfrm>
            <a:off x="4535424" y="384048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«Незакрытые двери»: открытые хранилища, пароли по умолчанию, debug.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35424" y="5285232"/>
            <a:ext cx="1371600" cy="274320"/>
          </a:xfrm>
          <a:prstGeom prst="roundRect">
            <a:avLst>
              <a:gd name="adj" fmla="val 166667"/>
            </a:avLst>
          </a:prstGeom>
          <a:solidFill>
            <a:srgbClr val="07101F"/>
          </a:solidFill>
          <a:ln w="10160">
            <a:solidFill>
              <a:srgbClr val="F2C14E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64515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20" kern="0" dirty="0">
                <a:solidFill>
                  <a:srgbClr val="F2C1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конфигурация</a:t>
            </a:r>
            <a:endParaRPr lang="en-US" sz="740" dirty="0"/>
          </a:p>
        </p:txBody>
      </p:sp>
      <p:sp>
        <p:nvSpPr>
          <p:cNvPr id="29" name="Shape 24"/>
          <p:cNvSpPr/>
          <p:nvPr/>
        </p:nvSpPr>
        <p:spPr>
          <a:xfrm>
            <a:off x="8019288" y="1901952"/>
            <a:ext cx="3566160" cy="3913632"/>
          </a:xfrm>
          <a:prstGeom prst="roundRect">
            <a:avLst>
              <a:gd name="adj" fmla="val 2051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019288" y="1901952"/>
            <a:ext cx="3566160" cy="6400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220456" y="2103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800" dirty="0"/>
          </a:p>
        </p:txBody>
      </p:sp>
      <p:pic>
        <p:nvPicPr>
          <p:cNvPr id="32" name="Image 2" descr="Сбои цепочки поставо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16" y="2212848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238744" y="2852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A03</a:t>
            </a:r>
            <a:endParaRPr 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8238744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Сбои цепочки поставок</a:t>
            </a:r>
            <a:endParaRPr lang="en-US" sz="1450" dirty="0"/>
          </a:p>
        </p:txBody>
      </p:sp>
      <p:sp>
        <p:nvSpPr>
          <p:cNvPr id="35" name="Text 29"/>
          <p:cNvSpPr txBox="1"/>
          <p:nvPr/>
        </p:nvSpPr>
        <p:spPr>
          <a:xfrm>
            <a:off x="8238744" y="384048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Компрометация сторонних библиотек, плагинов и CDN.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38744" y="5285232"/>
            <a:ext cx="1371600" cy="274320"/>
          </a:xfrm>
          <a:prstGeom prst="roundRect">
            <a:avLst>
              <a:gd name="adj" fmla="val 166667"/>
            </a:avLst>
          </a:prstGeom>
          <a:solidFill>
            <a:srgbClr val="07101F"/>
          </a:solidFill>
          <a:ln w="10160">
            <a:solidFill>
              <a:srgbClr val="5B8DE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348472" y="5294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2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поставки</a:t>
            </a:r>
            <a:endParaRPr lang="en-US" sz="740" dirty="0"/>
          </a:p>
        </p:txBody>
      </p:sp>
      <p:sp>
        <p:nvSpPr>
          <p:cNvPr id="38" name="Shape 32"/>
          <p:cNvSpPr/>
          <p:nvPr/>
        </p:nvSpPr>
        <p:spPr>
          <a:xfrm>
            <a:off x="612648" y="5989320"/>
            <a:ext cx="10972800" cy="365760"/>
          </a:xfrm>
          <a:prstGeom prst="roundRect">
            <a:avLst>
              <a:gd name="adj" fmla="val 125000"/>
            </a:avLst>
          </a:prstGeom>
          <a:solidFill>
            <a:srgbClr val="2A121C"/>
          </a:solidFill>
          <a:ln w="10160">
            <a:solidFill>
              <a:srgbClr val="5A2530"/>
            </a:solidFill>
            <a:prstDash val="solid"/>
          </a:ln>
        </p:spPr>
      </p:sp>
      <p:pic>
        <p:nvPicPr>
          <p:cNvPr id="39" name="Image 3" descr="triangle-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044184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124712" y="6035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три — типовые ошибки эксплуатации, а не экзотические атаки.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A01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Нарушения контроля доступа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Broken Access Control · доступ к тому, что вам не принадлежит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14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1901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Пользователь получает доступ к чужим данным или функциям.</a:t>
            </a:r>
            <a:endParaRPr lang="en-US" sz="1300" dirty="0"/>
          </a:p>
        </p:txBody>
      </p:sp>
      <p:pic>
        <p:nvPicPr>
          <p:cNvPr id="12" name="Image 0" descr="Чужие заказы по ID в UR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560320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1248" y="2532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Чужие заказы по ID в URL</a:t>
            </a:r>
            <a:endParaRPr lang="en-US" sz="1050" dirty="0"/>
          </a:p>
        </p:txBody>
      </p:sp>
      <p:pic>
        <p:nvPicPr>
          <p:cNvPr id="14" name="Image 1" descr="Редактирование чужого профил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017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" y="2990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Редактирование чужого профиля</a:t>
            </a:r>
            <a:endParaRPr lang="en-US" sz="1050" dirty="0"/>
          </a:p>
        </p:txBody>
      </p:sp>
      <p:pic>
        <p:nvPicPr>
          <p:cNvPr id="16" name="Image 2" descr="IDOR: /user/123 → /user/12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47472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" y="3447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IDOR: /user/123 → /user/124</a:t>
            </a:r>
            <a:endParaRPr lang="en-US" sz="1050" dirty="0"/>
          </a:p>
        </p:txBody>
      </p:sp>
      <p:pic>
        <p:nvPicPr>
          <p:cNvPr id="18" name="Image 3" descr="Админ-панель без авторизаци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931920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1248" y="3904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Админ-панель без авторизации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12648" y="461772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12648" y="4617720"/>
            <a:ext cx="45720" cy="713232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777240" y="4681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" b="1" spc="14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</a:t>
            </a:r>
            <a:endParaRPr lang="en-US" sz="68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88289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F2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(order.userId !== req.user.id) return 403;</a:t>
            </a:r>
            <a:endParaRPr lang="en-US" sz="880" dirty="0"/>
          </a:p>
        </p:txBody>
      </p:sp>
      <p:sp>
        <p:nvSpPr>
          <p:cNvPr id="24" name="Shape 17"/>
          <p:cNvSpPr/>
          <p:nvPr/>
        </p:nvSpPr>
        <p:spPr>
          <a:xfrm>
            <a:off x="5989320" y="1938528"/>
            <a:ext cx="5440680" cy="1627632"/>
          </a:xfrm>
          <a:prstGeom prst="roundRect">
            <a:avLst>
              <a:gd name="adj" fmla="val 3371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989320" y="1938528"/>
            <a:ext cx="5440680" cy="310896"/>
          </a:xfrm>
          <a:prstGeom prst="roundRect">
            <a:avLst>
              <a:gd name="adj" fmla="val 17647"/>
            </a:avLst>
          </a:prstGeom>
          <a:solidFill>
            <a:srgbClr val="12223D"/>
          </a:solidFill>
          <a:ln/>
        </p:spPr>
      </p:sp>
      <p:sp>
        <p:nvSpPr>
          <p:cNvPr id="26" name="Shape 19"/>
          <p:cNvSpPr/>
          <p:nvPr/>
        </p:nvSpPr>
        <p:spPr>
          <a:xfrm>
            <a:off x="5989320" y="2139696"/>
            <a:ext cx="5440680" cy="109728"/>
          </a:xfrm>
          <a:prstGeom prst="rect">
            <a:avLst/>
          </a:prstGeom>
          <a:solidFill>
            <a:srgbClr val="12223D"/>
          </a:solidFill>
          <a:ln/>
        </p:spPr>
      </p:sp>
      <p:sp>
        <p:nvSpPr>
          <p:cNvPr id="27" name="Shape 20"/>
          <p:cNvSpPr/>
          <p:nvPr/>
        </p:nvSpPr>
        <p:spPr>
          <a:xfrm>
            <a:off x="6117336" y="2048256"/>
            <a:ext cx="68580" cy="6858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8" name="Shape 21"/>
          <p:cNvSpPr/>
          <p:nvPr/>
        </p:nvSpPr>
        <p:spPr>
          <a:xfrm>
            <a:off x="6254496" y="2048256"/>
            <a:ext cx="68580" cy="6858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9" name="Shape 22"/>
          <p:cNvSpPr/>
          <p:nvPr/>
        </p:nvSpPr>
        <p:spPr>
          <a:xfrm>
            <a:off x="6391656" y="2048256"/>
            <a:ext cx="68580" cy="6858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0" name="Shape 23"/>
          <p:cNvSpPr/>
          <p:nvPr/>
        </p:nvSpPr>
        <p:spPr>
          <a:xfrm>
            <a:off x="6629400" y="2011680"/>
            <a:ext cx="4672584" cy="164592"/>
          </a:xfrm>
          <a:prstGeom prst="roundRect">
            <a:avLst>
              <a:gd name="adj" fmla="val 50000"/>
            </a:avLst>
          </a:prstGeom>
          <a:solidFill>
            <a:srgbClr val="07101F"/>
          </a:solidFill>
          <a:ln w="6350">
            <a:solidFill>
              <a:srgbClr val="22355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739128" y="2016252"/>
            <a:ext cx="4507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5D0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shop.ru/account/123</a:t>
            </a:r>
            <a:endParaRPr lang="en-US" sz="720" dirty="0"/>
          </a:p>
        </p:txBody>
      </p:sp>
      <p:sp>
        <p:nvSpPr>
          <p:cNvPr id="32" name="Shape 25"/>
          <p:cNvSpPr/>
          <p:nvPr/>
        </p:nvSpPr>
        <p:spPr>
          <a:xfrm>
            <a:off x="6153912" y="2395728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07101F"/>
          </a:solidFill>
          <a:ln w="10160">
            <a:solidFill>
              <a:srgbClr val="35D07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263640" y="240487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ВАШ АККАУНТ</a:t>
            </a:r>
            <a:endParaRPr lang="en-US" sz="720" dirty="0"/>
          </a:p>
        </p:txBody>
      </p:sp>
      <p:sp>
        <p:nvSpPr>
          <p:cNvPr id="34" name="Text 27"/>
          <p:cNvSpPr txBox="1"/>
          <p:nvPr/>
        </p:nvSpPr>
        <p:spPr>
          <a:xfrm>
            <a:off x="6153912" y="2743200"/>
            <a:ext cx="5111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Иван Петров · баланс 1 200 ₽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6153912" y="318211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совпадает с сессией — доступ разрешён.</a:t>
            </a:r>
            <a:endParaRPr lang="en-US" sz="840" dirty="0"/>
          </a:p>
        </p:txBody>
      </p:sp>
      <p:sp>
        <p:nvSpPr>
          <p:cNvPr id="36" name="Shape 29"/>
          <p:cNvSpPr/>
          <p:nvPr/>
        </p:nvSpPr>
        <p:spPr>
          <a:xfrm>
            <a:off x="5989320" y="3913632"/>
            <a:ext cx="5440680" cy="1627632"/>
          </a:xfrm>
          <a:prstGeom prst="roundRect">
            <a:avLst>
              <a:gd name="adj" fmla="val 3371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989320" y="3913632"/>
            <a:ext cx="5440680" cy="310896"/>
          </a:xfrm>
          <a:prstGeom prst="roundRect">
            <a:avLst>
              <a:gd name="adj" fmla="val 17647"/>
            </a:avLst>
          </a:prstGeom>
          <a:solidFill>
            <a:srgbClr val="12223D"/>
          </a:solidFill>
          <a:ln/>
        </p:spPr>
      </p:sp>
      <p:sp>
        <p:nvSpPr>
          <p:cNvPr id="38" name="Shape 31"/>
          <p:cNvSpPr/>
          <p:nvPr/>
        </p:nvSpPr>
        <p:spPr>
          <a:xfrm>
            <a:off x="5989320" y="4114800"/>
            <a:ext cx="5440680" cy="109728"/>
          </a:xfrm>
          <a:prstGeom prst="rect">
            <a:avLst/>
          </a:prstGeom>
          <a:solidFill>
            <a:srgbClr val="12223D"/>
          </a:solidFill>
          <a:ln/>
        </p:spPr>
      </p:sp>
      <p:sp>
        <p:nvSpPr>
          <p:cNvPr id="39" name="Shape 32"/>
          <p:cNvSpPr/>
          <p:nvPr/>
        </p:nvSpPr>
        <p:spPr>
          <a:xfrm>
            <a:off x="6117336" y="4023360"/>
            <a:ext cx="68580" cy="6858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40" name="Shape 33"/>
          <p:cNvSpPr/>
          <p:nvPr/>
        </p:nvSpPr>
        <p:spPr>
          <a:xfrm>
            <a:off x="6254496" y="4023360"/>
            <a:ext cx="68580" cy="6858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41" name="Shape 34"/>
          <p:cNvSpPr/>
          <p:nvPr/>
        </p:nvSpPr>
        <p:spPr>
          <a:xfrm>
            <a:off x="6391656" y="4023360"/>
            <a:ext cx="68580" cy="6858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42" name="Shape 35"/>
          <p:cNvSpPr/>
          <p:nvPr/>
        </p:nvSpPr>
        <p:spPr>
          <a:xfrm>
            <a:off x="6629400" y="3986784"/>
            <a:ext cx="4672584" cy="164592"/>
          </a:xfrm>
          <a:prstGeom prst="roundRect">
            <a:avLst>
              <a:gd name="adj" fmla="val 50000"/>
            </a:avLst>
          </a:prstGeom>
          <a:solidFill>
            <a:srgbClr val="07101F"/>
          </a:solidFill>
          <a:ln w="6350">
            <a:solidFill>
              <a:srgbClr val="223556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739128" y="3991356"/>
            <a:ext cx="4507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shop.ru/account/124</a:t>
            </a:r>
            <a:endParaRPr lang="en-US" sz="720" dirty="0"/>
          </a:p>
        </p:txBody>
      </p:sp>
      <p:sp>
        <p:nvSpPr>
          <p:cNvPr id="44" name="Shape 37"/>
          <p:cNvSpPr/>
          <p:nvPr/>
        </p:nvSpPr>
        <p:spPr>
          <a:xfrm>
            <a:off x="6153912" y="4370832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07101F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263640" y="437997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ЧУЖОЙ АККАУНТ</a:t>
            </a:r>
            <a:endParaRPr lang="en-US" sz="720" dirty="0"/>
          </a:p>
        </p:txBody>
      </p:sp>
      <p:sp>
        <p:nvSpPr>
          <p:cNvPr id="46" name="Text 39"/>
          <p:cNvSpPr txBox="1"/>
          <p:nvPr/>
        </p:nvSpPr>
        <p:spPr>
          <a:xfrm>
            <a:off x="6153912" y="4718304"/>
            <a:ext cx="5111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Мария Смирнова · баланс 84 000 ₽</a:t>
            </a:r>
            <a:endParaRPr lang="en-US" sz="1050" dirty="0"/>
          </a:p>
        </p:txBody>
      </p:sp>
      <p:sp>
        <p:nvSpPr>
          <p:cNvPr id="47" name="Text 40"/>
          <p:cNvSpPr txBox="1"/>
          <p:nvPr/>
        </p:nvSpPr>
        <p:spPr>
          <a:xfrm>
            <a:off x="6153912" y="5157216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Тот же запрос, другой ID — данные открыты.</a:t>
            </a:r>
            <a:endParaRPr lang="en-US" sz="840" dirty="0"/>
          </a:p>
        </p:txBody>
      </p:sp>
      <p:sp>
        <p:nvSpPr>
          <p:cNvPr id="48" name="Shape 41"/>
          <p:cNvSpPr/>
          <p:nvPr/>
        </p:nvSpPr>
        <p:spPr>
          <a:xfrm>
            <a:off x="8732520" y="3602736"/>
            <a:ext cx="0" cy="283464"/>
          </a:xfrm>
          <a:prstGeom prst="line">
            <a:avLst/>
          </a:prstGeom>
          <a:noFill/>
          <a:ln w="27940">
            <a:solidFill>
              <a:srgbClr val="FF4D5E"/>
            </a:solidFill>
            <a:prstDash val="solid"/>
            <a:headEnd type="none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6199632" y="3621024"/>
            <a:ext cx="777240" cy="237744"/>
          </a:xfrm>
          <a:prstGeom prst="roundRect">
            <a:avLst>
              <a:gd name="adj" fmla="val 192308"/>
            </a:avLst>
          </a:prstGeom>
          <a:solidFill>
            <a:srgbClr val="2A121C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6309360" y="3630168"/>
            <a:ext cx="576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IDOR</a:t>
            </a:r>
            <a:endParaRPr lang="en-US" sz="720" dirty="0"/>
          </a:p>
        </p:txBody>
      </p:sp>
      <p:sp>
        <p:nvSpPr>
          <p:cNvPr id="51" name="Text 44"/>
          <p:cNvSpPr txBox="1"/>
          <p:nvPr/>
        </p:nvSpPr>
        <p:spPr>
          <a:xfrm>
            <a:off x="8887968" y="36301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меняем ID</a:t>
            </a:r>
            <a:endParaRPr lang="en-US" sz="780" dirty="0"/>
          </a:p>
        </p:txBody>
      </p:sp>
      <p:sp>
        <p:nvSpPr>
          <p:cNvPr id="52" name="Shape 45"/>
          <p:cNvSpPr/>
          <p:nvPr/>
        </p:nvSpPr>
        <p:spPr>
          <a:xfrm>
            <a:off x="612648" y="5760720"/>
            <a:ext cx="10972800" cy="502920"/>
          </a:xfrm>
          <a:prstGeom prst="roundRect">
            <a:avLst>
              <a:gd name="adj" fmla="val 90909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53" name="Image 4" descr="shield-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870448"/>
            <a:ext cx="274320" cy="27432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152144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прав на каждом запросе · наименьшие привилегии · не полагаться на скрытность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A02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Ошибки конфигурации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Misconfiguration · «незакрытые двери» серверов и облаков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14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1901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Одна настройка может открыть всю инфраструктуру.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" y="2340864"/>
            <a:ext cx="5669280" cy="3337560"/>
          </a:xfrm>
          <a:prstGeom prst="roundRect">
            <a:avLst>
              <a:gd name="adj" fmla="val 1370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" y="2340864"/>
            <a:ext cx="50292" cy="333756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6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/ PROD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5440680" y="2505456"/>
            <a:ext cx="73152" cy="7315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586984" y="2505456"/>
            <a:ext cx="73152" cy="7315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733288" y="2505456"/>
            <a:ext cx="73152" cy="7315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1248" y="283464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bucket: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public-read</a:t>
            </a:r>
            <a:endParaRPr lang="en-US" sz="122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/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22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=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2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trace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client</a:t>
            </a:r>
            <a:endParaRPr lang="en-US" sz="122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5432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22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CORS: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2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A7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SECRET_KEY = </a:t>
            </a:r>
            <a:pPr indent="0" marL="0">
              <a:lnSpc>
                <a:spcPts val="2100"/>
              </a:lnSpc>
              <a:buNone/>
            </a:pPr>
            <a:r>
              <a:rPr lang="en-US" sz="12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endParaRPr lang="en-US" sz="1220" dirty="0"/>
          </a:p>
        </p:txBody>
      </p:sp>
      <p:sp>
        <p:nvSpPr>
          <p:cNvPr id="19" name="Text 16"/>
          <p:cNvSpPr txBox="1"/>
          <p:nvPr/>
        </p:nvSpPr>
        <p:spPr>
          <a:xfrm>
            <a:off x="6656832" y="19019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делать</a:t>
            </a:r>
            <a:endParaRPr lang="en-US" sz="1800" dirty="0"/>
          </a:p>
        </p:txBody>
      </p:sp>
      <p:pic>
        <p:nvPicPr>
          <p:cNvPr id="20" name="Image 0" descr="Аудит конфигурац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245059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59168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Аудит конфигураций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059168" y="2670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Автоматически проверять настройки.</a:t>
            </a:r>
            <a:endParaRPr lang="en-US" sz="880" dirty="0"/>
          </a:p>
        </p:txBody>
      </p:sp>
      <p:pic>
        <p:nvPicPr>
          <p:cNvPr id="23" name="Image 1" descr="Разделить сред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18211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68" y="3127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Разделить среды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059168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/ staging / prod.</a:t>
            </a:r>
            <a:endParaRPr lang="en-US" sz="880" dirty="0"/>
          </a:p>
        </p:txBody>
      </p:sp>
      <p:pic>
        <p:nvPicPr>
          <p:cNvPr id="26" name="Image 2" descr="Минимальные прав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91363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59168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Минимальные права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059168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Сервисные аккаунты без лишнего.</a:t>
            </a:r>
            <a:endParaRPr lang="en-US" sz="880" dirty="0"/>
          </a:p>
        </p:txBody>
      </p:sp>
      <p:pic>
        <p:nvPicPr>
          <p:cNvPr id="29" name="Image 3" descr="Убрать лишне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64515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59168" y="4590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Убрать лишнее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7059168" y="4864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Скрыть debug и stack trace.</a:t>
            </a:r>
            <a:endParaRPr lang="en-US" sz="880" dirty="0"/>
          </a:p>
        </p:txBody>
      </p:sp>
      <p:sp>
        <p:nvSpPr>
          <p:cNvPr id="32" name="Shape 25"/>
          <p:cNvSpPr/>
          <p:nvPr/>
        </p:nvSpPr>
        <p:spPr>
          <a:xfrm>
            <a:off x="6638544" y="5440680"/>
            <a:ext cx="4937760" cy="566928"/>
          </a:xfrm>
          <a:prstGeom prst="roundRect">
            <a:avLst>
              <a:gd name="adj" fmla="val 80645"/>
            </a:avLst>
          </a:prstGeom>
          <a:solidFill>
            <a:srgbClr val="2A121C"/>
          </a:solidFill>
          <a:ln w="10160">
            <a:solidFill>
              <a:srgbClr val="5A2530"/>
            </a:solidFill>
            <a:prstDash val="solid"/>
          </a:ln>
        </p:spPr>
      </p:sp>
      <p:pic>
        <p:nvPicPr>
          <p:cNvPr id="33" name="Image 4" descr="triangle-ale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55778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32320" y="5550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Одна ошибка = потенциально полный доступ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 презентаци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A03</a:t>
            </a:r>
            <a:endParaRPr lang="en-US" sz="82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Сбои в цепочке поставок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Failures · атака через сторонний код</a:t>
            </a:r>
            <a:endParaRPr lang="en-US" sz="1180" dirty="0"/>
          </a:p>
        </p:txBody>
      </p:sp>
      <p:sp>
        <p:nvSpPr>
          <p:cNvPr id="7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14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612648" y="1883664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0A1426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13" name="Image 1" descr="Ваш сай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2140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6128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Ваш сайт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944368" y="2276856"/>
            <a:ext cx="466344" cy="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429000" y="1883664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0A1426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17" name="Image 2" descr="npm-паке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212140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776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npm-пакет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760720" y="2276856"/>
            <a:ext cx="466344" cy="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6245352" y="1883664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0A1426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21" name="Image 3" descr="зависимост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12140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93992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зависимость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577072" y="2276856"/>
            <a:ext cx="466344" cy="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9061704" y="1883664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0A1426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25" name="Image 4" descr="CDN / хостинг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296" y="212140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610344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/ хостинг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4507992" y="27066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вредоносный код</a:t>
            </a:r>
            <a:endParaRPr lang="en-US" sz="780" dirty="0"/>
          </a:p>
        </p:txBody>
      </p:sp>
      <p:sp>
        <p:nvSpPr>
          <p:cNvPr id="28" name="Shape 20"/>
          <p:cNvSpPr/>
          <p:nvPr/>
        </p:nvSpPr>
        <p:spPr>
          <a:xfrm>
            <a:off x="612648" y="324612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0A1426">
              <a:alpha val="90000"/>
            </a:srgbClr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229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ПРИМЕРЫ</a:t>
            </a:r>
            <a:endParaRPr lang="en-US" sz="850" dirty="0"/>
          </a:p>
        </p:txBody>
      </p:sp>
      <p:pic>
        <p:nvPicPr>
          <p:cNvPr id="30" name="Image 5" descr="Вредоносный код в популярном npm-пакете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49040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51560" y="37216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Вредоносный код в популярном npm-пакете</a:t>
            </a:r>
            <a:endParaRPr lang="en-US" sz="980" dirty="0"/>
          </a:p>
        </p:txBody>
      </p:sp>
      <p:pic>
        <p:nvPicPr>
          <p:cNvPr id="32" name="Image 6" descr="Скомпрометированный плагин CM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151376"/>
            <a:ext cx="164592" cy="16459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51560" y="41239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Скомпрометированный плагин CMS</a:t>
            </a:r>
            <a:endParaRPr lang="en-US" sz="980" dirty="0"/>
          </a:p>
        </p:txBody>
      </p:sp>
      <p:pic>
        <p:nvPicPr>
          <p:cNvPr id="34" name="Image 7" descr="Атака на CDN или хостинг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553712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51560" y="45262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Атака на CDN или хостинг</a:t>
            </a:r>
            <a:endParaRPr lang="en-US" sz="980" dirty="0"/>
          </a:p>
        </p:txBody>
      </p:sp>
      <p:pic>
        <p:nvPicPr>
          <p:cNvPr id="36" name="Image 8" descr="Старые версии с известными дырами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956048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051560" y="49286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Старые версии с известными дырами</a:t>
            </a:r>
            <a:endParaRPr lang="en-US" sz="980" dirty="0"/>
          </a:p>
        </p:txBody>
      </p:sp>
      <p:sp>
        <p:nvSpPr>
          <p:cNvPr id="38" name="Shape 26"/>
          <p:cNvSpPr/>
          <p:nvPr/>
        </p:nvSpPr>
        <p:spPr>
          <a:xfrm>
            <a:off x="6199632" y="3246120"/>
            <a:ext cx="5385816" cy="2331720"/>
          </a:xfrm>
          <a:prstGeom prst="roundRect">
            <a:avLst>
              <a:gd name="adj" fmla="val 2745"/>
            </a:avLst>
          </a:prstGeom>
          <a:solidFill>
            <a:srgbClr val="0A1426">
              <a:alpha val="90000"/>
            </a:srgbClr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6419088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</a:t>
            </a:r>
            <a:endParaRPr lang="en-US" sz="850" dirty="0"/>
          </a:p>
        </p:txBody>
      </p:sp>
      <p:pic>
        <p:nvPicPr>
          <p:cNvPr id="40" name="Image 9" descr="SBO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3749040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6693408" y="37124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SBOM</a:t>
            </a:r>
            <a:endParaRPr lang="en-US" sz="1020" dirty="0"/>
          </a:p>
        </p:txBody>
      </p:sp>
      <p:sp>
        <p:nvSpPr>
          <p:cNvPr id="42" name="Text 29"/>
          <p:cNvSpPr txBox="1"/>
          <p:nvPr/>
        </p:nvSpPr>
        <p:spPr>
          <a:xfrm>
            <a:off x="6693408" y="39410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Знать все компоненты и версии.</a:t>
            </a:r>
            <a:endParaRPr lang="en-US" sz="830" dirty="0"/>
          </a:p>
        </p:txBody>
      </p:sp>
      <p:pic>
        <p:nvPicPr>
          <p:cNvPr id="43" name="Image 10" descr="Snyk / Dependabo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4279392"/>
            <a:ext cx="182880" cy="18288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6693408" y="4242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Snyk / Dependabot</a:t>
            </a:r>
            <a:endParaRPr lang="en-US" sz="1020" dirty="0"/>
          </a:p>
        </p:txBody>
      </p:sp>
      <p:sp>
        <p:nvSpPr>
          <p:cNvPr id="45" name="Text 31"/>
          <p:cNvSpPr txBox="1"/>
          <p:nvPr/>
        </p:nvSpPr>
        <p:spPr>
          <a:xfrm>
            <a:off x="6693408" y="44714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Автоматическая проверка зависимостей.</a:t>
            </a:r>
            <a:endParaRPr lang="en-US" sz="830" dirty="0"/>
          </a:p>
        </p:txBody>
      </p:sp>
      <p:pic>
        <p:nvPicPr>
          <p:cNvPr id="46" name="Image 11" descr="Фиксация версий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088" y="4809744"/>
            <a:ext cx="182880" cy="182880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693408" y="47731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Фиксация версий</a:t>
            </a:r>
            <a:endParaRPr lang="en-US" sz="1020" dirty="0"/>
          </a:p>
        </p:txBody>
      </p:sp>
      <p:sp>
        <p:nvSpPr>
          <p:cNvPr id="48" name="Text 33"/>
          <p:cNvSpPr txBox="1"/>
          <p:nvPr/>
        </p:nvSpPr>
        <p:spPr>
          <a:xfrm>
            <a:off x="6693408" y="50017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обновлений и lock-файлы.</a:t>
            </a:r>
            <a:endParaRPr lang="en-US" sz="830" dirty="0"/>
          </a:p>
        </p:txBody>
      </p:sp>
      <p:sp>
        <p:nvSpPr>
          <p:cNvPr id="49" name="Shape 34"/>
          <p:cNvSpPr/>
          <p:nvPr/>
        </p:nvSpPr>
        <p:spPr>
          <a:xfrm>
            <a:off x="612648" y="5833872"/>
            <a:ext cx="10972800" cy="457200"/>
          </a:xfrm>
          <a:prstGeom prst="roundRect">
            <a:avLst>
              <a:gd name="adj" fmla="val 100000"/>
            </a:avLst>
          </a:prstGeom>
          <a:solidFill>
            <a:srgbClr val="2A121C"/>
          </a:solidFill>
          <a:ln w="10160">
            <a:solidFill>
              <a:srgbClr val="5A2530"/>
            </a:solidFill>
            <a:prstDash val="solid"/>
          </a:ln>
        </p:spPr>
      </p:sp>
      <p:pic>
        <p:nvPicPr>
          <p:cNvPr id="50" name="Image 12" descr="triangle-aler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" y="5916168"/>
            <a:ext cx="256032" cy="256032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1133856" y="588873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 не контролируете чужой код — но отвечаете за него.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ИНЪЕКЦИИ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SQL-инъекции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Ввод пользователя становится частью запроса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14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12648" y="1874520"/>
            <a:ext cx="3657600" cy="1965960"/>
          </a:xfrm>
          <a:prstGeom prst="roundRect">
            <a:avLst>
              <a:gd name="adj" fmla="val 3256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ВХОД НА САЙТ</a:t>
            </a:r>
            <a:endParaRPr lang="en-US" sz="72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2677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Логин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22960" y="2432304"/>
            <a:ext cx="3246120" cy="310896"/>
          </a:xfrm>
          <a:prstGeom prst="roundRect">
            <a:avLst>
              <a:gd name="adj" fmla="val 14706"/>
            </a:avLst>
          </a:prstGeom>
          <a:solidFill>
            <a:srgbClr val="07101F"/>
          </a:solidFill>
          <a:ln w="8890">
            <a:solidFill>
              <a:srgbClr val="2235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24597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28163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Пароль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2960" y="2980944"/>
            <a:ext cx="3246120" cy="310896"/>
          </a:xfrm>
          <a:prstGeom prst="roundRect">
            <a:avLst>
              <a:gd name="adj" fmla="val 14706"/>
            </a:avLst>
          </a:prstGeom>
          <a:solidFill>
            <a:srgbClr val="07101F"/>
          </a:solidFill>
          <a:ln w="8890">
            <a:solidFill>
              <a:srgbClr val="2235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0083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••••••••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22960" y="3401568"/>
            <a:ext cx="3246120" cy="292608"/>
          </a:xfrm>
          <a:prstGeom prst="roundRect">
            <a:avLst>
              <a:gd name="adj" fmla="val 15625"/>
            </a:avLst>
          </a:prstGeom>
          <a:solidFill>
            <a:srgbClr val="FF4D5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34290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Войти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526280" y="1874520"/>
            <a:ext cx="7059168" cy="1965960"/>
          </a:xfrm>
          <a:prstGeom prst="roundRect">
            <a:avLst>
              <a:gd name="adj" fmla="val 3256"/>
            </a:avLst>
          </a:prstGeom>
          <a:solidFill>
            <a:srgbClr val="2A121C"/>
          </a:solidFill>
          <a:ln w="10160">
            <a:solidFill>
              <a:srgbClr val="5A253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54880" y="1993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b="1" spc="18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ПОЛУЧАЕТ АТАКУЮЩИЙ</a:t>
            </a:r>
            <a:endParaRPr lang="en-US" sz="74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Полный доступ к базе данных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754880" y="2761488"/>
            <a:ext cx="1143000" cy="274320"/>
          </a:xfrm>
          <a:prstGeom prst="roundRect">
            <a:avLst>
              <a:gd name="adj" fmla="val 166667"/>
            </a:avLst>
          </a:prstGeom>
          <a:solidFill>
            <a:srgbClr val="07101F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64608" y="277063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кража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6035040" y="2761488"/>
            <a:ext cx="1143000" cy="274320"/>
          </a:xfrm>
          <a:prstGeom prst="roundRect">
            <a:avLst>
              <a:gd name="adj" fmla="val 166667"/>
            </a:avLst>
          </a:prstGeom>
          <a:solidFill>
            <a:srgbClr val="07101F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44768" y="277063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изменение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7315200" y="2761488"/>
            <a:ext cx="1143000" cy="274320"/>
          </a:xfrm>
          <a:prstGeom prst="roundRect">
            <a:avLst>
              <a:gd name="adj" fmla="val 166667"/>
            </a:avLst>
          </a:prstGeom>
          <a:solidFill>
            <a:srgbClr val="07101F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24928" y="277063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удаление</a:t>
            </a:r>
            <a:endParaRPr lang="en-US" sz="76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Пароль не нужен: условие всегда истинно.</a:t>
            </a:r>
            <a:endParaRPr lang="en-US" sz="920" dirty="0"/>
          </a:p>
        </p:txBody>
      </p:sp>
      <p:pic>
        <p:nvPicPr>
          <p:cNvPr id="31" name="Image 0" descr="База данны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40280"/>
            <a:ext cx="914400" cy="9144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12648" y="4069080"/>
            <a:ext cx="5349240" cy="2103120"/>
          </a:xfrm>
          <a:prstGeom prst="roundRect">
            <a:avLst>
              <a:gd name="adj" fmla="val 2174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12648" y="4069080"/>
            <a:ext cx="50292" cy="210312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95528" y="417880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6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УЯЗВИМО</a:t>
            </a:r>
            <a:endParaRPr lang="en-US" sz="780" dirty="0"/>
          </a:p>
        </p:txBody>
      </p:sp>
      <p:sp>
        <p:nvSpPr>
          <p:cNvPr id="35" name="Text 31"/>
          <p:cNvSpPr txBox="1"/>
          <p:nvPr/>
        </p:nvSpPr>
        <p:spPr>
          <a:xfrm>
            <a:off x="795528" y="4480560"/>
            <a:ext cx="50200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95528" y="587044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Конкатенация: данные = код</a:t>
            </a:r>
            <a:endParaRPr lang="en-US" sz="780" dirty="0"/>
          </a:p>
        </p:txBody>
      </p:sp>
      <p:sp>
        <p:nvSpPr>
          <p:cNvPr id="37" name="Shape 33"/>
          <p:cNvSpPr/>
          <p:nvPr/>
        </p:nvSpPr>
        <p:spPr>
          <a:xfrm>
            <a:off x="6236208" y="4069080"/>
            <a:ext cx="5349240" cy="2103120"/>
          </a:xfrm>
          <a:prstGeom prst="roundRect">
            <a:avLst>
              <a:gd name="adj" fmla="val 2174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36208" y="4069080"/>
            <a:ext cx="50292" cy="210312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6419088" y="417880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6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ЗАЩИЩЕНО</a:t>
            </a:r>
            <a:endParaRPr lang="en-US" sz="780" dirty="0"/>
          </a:p>
        </p:txBody>
      </p:sp>
      <p:sp>
        <p:nvSpPr>
          <p:cNvPr id="40" name="Text 36"/>
          <p:cNvSpPr txBox="1"/>
          <p:nvPr/>
        </p:nvSpPr>
        <p:spPr>
          <a:xfrm>
            <a:off x="6419088" y="4480560"/>
            <a:ext cx="50200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6419088" y="587044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Параметризация: данные ≠ код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ИНЪЕКЦИИ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— межсайтовый скриптинг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Чужой JavaScript выполняется в браузере жертвы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14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188366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8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Злоумышленник внедряет JavaScript, который выполняется у жертвы.</a:t>
            </a:r>
            <a:endParaRPr lang="en-US" sz="128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ВИДЫ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12648" y="2962656"/>
            <a:ext cx="1920240" cy="292608"/>
          </a:xfrm>
          <a:prstGeom prst="roundRect">
            <a:avLst>
              <a:gd name="adj" fmla="val 156250"/>
            </a:avLst>
          </a:prstGeom>
          <a:solidFill>
            <a:srgbClr val="10233F"/>
          </a:solidFill>
          <a:ln w="10160">
            <a:solidFill>
              <a:srgbClr val="5B8D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2376" y="29718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0" kern="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Хранимый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2651760" y="2962656"/>
            <a:ext cx="1920240" cy="292608"/>
          </a:xfrm>
          <a:prstGeom prst="roundRect">
            <a:avLst>
              <a:gd name="adj" fmla="val 156250"/>
            </a:avLst>
          </a:prstGeom>
          <a:solidFill>
            <a:srgbClr val="10233F"/>
          </a:solidFill>
          <a:ln w="10160">
            <a:solidFill>
              <a:srgbClr val="5B8D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61488" y="29718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20" kern="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Отражённый</a:t>
            </a:r>
            <a:endParaRPr lang="en-US" sz="820" dirty="0"/>
          </a:p>
        </p:txBody>
      </p:sp>
      <p:sp>
        <p:nvSpPr>
          <p:cNvPr id="17" name="Text 14"/>
          <p:cNvSpPr txBox="1"/>
          <p:nvPr/>
        </p:nvSpPr>
        <p:spPr>
          <a:xfrm>
            <a:off x="612648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8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ПОСЛЕДСТВИЯ</a:t>
            </a:r>
            <a:endParaRPr lang="en-US" sz="780" dirty="0"/>
          </a:p>
        </p:txBody>
      </p:sp>
      <p:pic>
        <p:nvPicPr>
          <p:cNvPr id="18" name="Image 0" descr="Кража cookie и сесс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840480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41248" y="38130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Кража cookie и сессий</a:t>
            </a:r>
            <a:endParaRPr lang="en-US" sz="1000" dirty="0"/>
          </a:p>
        </p:txBody>
      </p:sp>
      <p:pic>
        <p:nvPicPr>
          <p:cNvPr id="20" name="Image 1" descr="Фишинг-редирект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206240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248" y="41788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Фишинг-редиректы</a:t>
            </a:r>
            <a:endParaRPr lang="en-US" sz="1000" dirty="0"/>
          </a:p>
        </p:txBody>
      </p:sp>
      <p:pic>
        <p:nvPicPr>
          <p:cNvPr id="22" name="Image 2" descr="Подмена контента страницы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572000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1248" y="45445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Подмена контента страницы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12648" y="5074920"/>
            <a:ext cx="4572000" cy="530352"/>
          </a:xfrm>
          <a:prstGeom prst="roundRect">
            <a:avLst>
              <a:gd name="adj" fmla="val 8621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2648" y="5074920"/>
            <a:ext cx="45720" cy="530352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12978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&lt;script&gt;alert(document.cookie)&lt;/script&gt;</a:t>
            </a:r>
            <a:endParaRPr lang="en-US" sz="820" dirty="0"/>
          </a:p>
        </p:txBody>
      </p:sp>
      <p:sp>
        <p:nvSpPr>
          <p:cNvPr id="27" name="Shape 21"/>
          <p:cNvSpPr/>
          <p:nvPr/>
        </p:nvSpPr>
        <p:spPr>
          <a:xfrm>
            <a:off x="5440680" y="1874520"/>
            <a:ext cx="6126480" cy="1920240"/>
          </a:xfrm>
          <a:prstGeom prst="roundRect">
            <a:avLst>
              <a:gd name="adj" fmla="val 2857"/>
            </a:avLst>
          </a:prstGeom>
          <a:solidFill>
            <a:srgbClr val="091528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40680" y="1874520"/>
            <a:ext cx="6126480" cy="310896"/>
          </a:xfrm>
          <a:prstGeom prst="roundRect">
            <a:avLst>
              <a:gd name="adj" fmla="val 17647"/>
            </a:avLst>
          </a:prstGeom>
          <a:solidFill>
            <a:srgbClr val="12223D"/>
          </a:solidFill>
          <a:ln/>
        </p:spPr>
      </p:sp>
      <p:sp>
        <p:nvSpPr>
          <p:cNvPr id="29" name="Shape 23"/>
          <p:cNvSpPr/>
          <p:nvPr/>
        </p:nvSpPr>
        <p:spPr>
          <a:xfrm>
            <a:off x="5440680" y="2075688"/>
            <a:ext cx="6126480" cy="109728"/>
          </a:xfrm>
          <a:prstGeom prst="rect">
            <a:avLst/>
          </a:prstGeom>
          <a:solidFill>
            <a:srgbClr val="12223D"/>
          </a:solidFill>
          <a:ln/>
        </p:spPr>
      </p:sp>
      <p:sp>
        <p:nvSpPr>
          <p:cNvPr id="30" name="Shape 24"/>
          <p:cNvSpPr/>
          <p:nvPr/>
        </p:nvSpPr>
        <p:spPr>
          <a:xfrm>
            <a:off x="5568696" y="1984248"/>
            <a:ext cx="68580" cy="6858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1" name="Shape 25"/>
          <p:cNvSpPr/>
          <p:nvPr/>
        </p:nvSpPr>
        <p:spPr>
          <a:xfrm>
            <a:off x="5705856" y="1984248"/>
            <a:ext cx="68580" cy="6858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2" name="Shape 26"/>
          <p:cNvSpPr/>
          <p:nvPr/>
        </p:nvSpPr>
        <p:spPr>
          <a:xfrm>
            <a:off x="5843016" y="1984248"/>
            <a:ext cx="68580" cy="6858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3" name="Shape 27"/>
          <p:cNvSpPr/>
          <p:nvPr/>
        </p:nvSpPr>
        <p:spPr>
          <a:xfrm>
            <a:off x="6080760" y="1947672"/>
            <a:ext cx="5358384" cy="164592"/>
          </a:xfrm>
          <a:prstGeom prst="roundRect">
            <a:avLst>
              <a:gd name="adj" fmla="val 50000"/>
            </a:avLst>
          </a:prstGeom>
          <a:solidFill>
            <a:srgbClr val="07101F"/>
          </a:solidFill>
          <a:ln w="6350">
            <a:solidFill>
              <a:srgbClr val="223556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190488" y="1952244"/>
            <a:ext cx="519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site.ru/comments</a:t>
            </a:r>
            <a:endParaRPr lang="en-US" sz="720" dirty="0"/>
          </a:p>
        </p:txBody>
      </p:sp>
      <p:sp>
        <p:nvSpPr>
          <p:cNvPr id="35" name="Shape 29"/>
          <p:cNvSpPr/>
          <p:nvPr/>
        </p:nvSpPr>
        <p:spPr>
          <a:xfrm>
            <a:off x="5605272" y="2331720"/>
            <a:ext cx="1417320" cy="237744"/>
          </a:xfrm>
          <a:prstGeom prst="roundRect">
            <a:avLst>
              <a:gd name="adj" fmla="val 192308"/>
            </a:avLst>
          </a:prstGeom>
          <a:solidFill>
            <a:srgbClr val="07101F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715000" y="23408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spc="20" kern="0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КОММЕНТАРИЙ</a:t>
            </a:r>
            <a:endParaRPr lang="en-US" sz="720" dirty="0"/>
          </a:p>
        </p:txBody>
      </p:sp>
      <p:sp>
        <p:nvSpPr>
          <p:cNvPr id="37" name="Text 31"/>
          <p:cNvSpPr txBox="1"/>
          <p:nvPr/>
        </p:nvSpPr>
        <p:spPr>
          <a:xfrm>
            <a:off x="5605272" y="2679192"/>
            <a:ext cx="5797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Привет! &lt;script&gt;alert(document.cookie)&lt;/script&gt;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5605272" y="3410712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Скрипт попал на страницу без экранирования.</a:t>
            </a:r>
            <a:endParaRPr lang="en-US" sz="840" dirty="0"/>
          </a:p>
        </p:txBody>
      </p:sp>
      <p:sp>
        <p:nvSpPr>
          <p:cNvPr id="39" name="Shape 33"/>
          <p:cNvSpPr/>
          <p:nvPr/>
        </p:nvSpPr>
        <p:spPr>
          <a:xfrm>
            <a:off x="5440680" y="416052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0E1B31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40" name="Image 3" descr="Комментари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4261104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513832" y="45902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4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Комментарий</a:t>
            </a:r>
            <a:endParaRPr lang="en-US" sz="740" dirty="0"/>
          </a:p>
        </p:txBody>
      </p:sp>
      <p:sp>
        <p:nvSpPr>
          <p:cNvPr id="42" name="Shape 35"/>
          <p:cNvSpPr/>
          <p:nvPr/>
        </p:nvSpPr>
        <p:spPr>
          <a:xfrm>
            <a:off x="6739128" y="4681728"/>
            <a:ext cx="182880" cy="0"/>
          </a:xfrm>
          <a:prstGeom prst="line">
            <a:avLst/>
          </a:prstGeom>
          <a:noFill/>
          <a:ln w="2286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6995160" y="416052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0E1B31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44" name="Image 4" descr="Страниц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4261104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7068312" y="45902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4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Страница</a:t>
            </a:r>
            <a:endParaRPr lang="en-US" sz="740" dirty="0"/>
          </a:p>
        </p:txBody>
      </p:sp>
      <p:sp>
        <p:nvSpPr>
          <p:cNvPr id="46" name="Shape 38"/>
          <p:cNvSpPr/>
          <p:nvPr/>
        </p:nvSpPr>
        <p:spPr>
          <a:xfrm>
            <a:off x="8293608" y="4681728"/>
            <a:ext cx="182880" cy="0"/>
          </a:xfrm>
          <a:prstGeom prst="line">
            <a:avLst/>
          </a:prstGeom>
          <a:noFill/>
          <a:ln w="2286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47" name="Shape 39"/>
          <p:cNvSpPr/>
          <p:nvPr/>
        </p:nvSpPr>
        <p:spPr>
          <a:xfrm>
            <a:off x="8549640" y="416052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0E1B31"/>
          </a:solidFill>
          <a:ln w="12700">
            <a:solidFill>
              <a:srgbClr val="F2C14E"/>
            </a:solidFill>
            <a:prstDash val="solid"/>
          </a:ln>
        </p:spPr>
      </p:sp>
      <p:pic>
        <p:nvPicPr>
          <p:cNvPr id="48" name="Image 5" descr="Браузер жертвы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4261104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622792" y="45902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4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Браузер жертвы</a:t>
            </a:r>
            <a:endParaRPr lang="en-US" sz="740" dirty="0"/>
          </a:p>
        </p:txBody>
      </p:sp>
      <p:sp>
        <p:nvSpPr>
          <p:cNvPr id="50" name="Shape 41"/>
          <p:cNvSpPr/>
          <p:nvPr/>
        </p:nvSpPr>
        <p:spPr>
          <a:xfrm>
            <a:off x="9848088" y="4681728"/>
            <a:ext cx="182880" cy="0"/>
          </a:xfrm>
          <a:prstGeom prst="line">
            <a:avLst/>
          </a:prstGeom>
          <a:noFill/>
          <a:ln w="2286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10104120" y="416052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0E1B31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52" name="Image 6" descr="Cookie у атакующего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9608" y="4261104"/>
            <a:ext cx="274320" cy="27432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0177272" y="45902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4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Cookie у атакующего</a:t>
            </a:r>
            <a:endParaRPr lang="en-US" sz="740" dirty="0"/>
          </a:p>
        </p:txBody>
      </p:sp>
      <p:sp>
        <p:nvSpPr>
          <p:cNvPr id="54" name="Shape 44"/>
          <p:cNvSpPr/>
          <p:nvPr/>
        </p:nvSpPr>
        <p:spPr>
          <a:xfrm>
            <a:off x="612648" y="5779008"/>
            <a:ext cx="10972800" cy="502920"/>
          </a:xfrm>
          <a:prstGeom prst="roundRect">
            <a:avLst>
              <a:gd name="adj" fmla="val 90909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55" name="Image 7" descr="shield-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5888736"/>
            <a:ext cx="274320" cy="274320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1152144" y="58704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Выход: экранирование вывода · CSP · валидация ввода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ПОДДЕЛКА ЗАПРОСОВ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— подделка запросов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Браузер жертвы сам отправляет опасный запрос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14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1874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Злоумышленник заставляет браузер выполнить действие на сайте, где вы авторизованы.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612648" y="2487168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" y="2487168"/>
            <a:ext cx="3474720" cy="548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3816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pic>
        <p:nvPicPr>
          <p:cNvPr id="15" name="Image 0" descr="Вы авторизован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67004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3816" y="3127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 авторизованы</a:t>
            </a:r>
            <a:endParaRPr lang="en-US" sz="1280" dirty="0"/>
          </a:p>
        </p:txBody>
      </p:sp>
      <p:sp>
        <p:nvSpPr>
          <p:cNvPr id="17" name="Text 13"/>
          <p:cNvSpPr txBox="1"/>
          <p:nvPr/>
        </p:nvSpPr>
        <p:spPr>
          <a:xfrm>
            <a:off x="813816" y="35295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банке открыта сессия, cookie действует.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361688" y="2487168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61688" y="2487168"/>
            <a:ext cx="3474720" cy="54864"/>
          </a:xfrm>
          <a:prstGeom prst="rect">
            <a:avLst/>
          </a:prstGeom>
          <a:solidFill>
            <a:srgbClr val="F2C14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562856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pic>
        <p:nvPicPr>
          <p:cNvPr id="21" name="Image 1" descr="Заходите на чужой сай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67004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62856" y="3127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Заходите на чужой сайт</a:t>
            </a:r>
            <a:endParaRPr lang="en-US" sz="1280" dirty="0"/>
          </a:p>
        </p:txBody>
      </p:sp>
      <p:sp>
        <p:nvSpPr>
          <p:cNvPr id="23" name="Text 18"/>
          <p:cNvSpPr txBox="1"/>
          <p:nvPr/>
        </p:nvSpPr>
        <p:spPr>
          <a:xfrm>
            <a:off x="4562856" y="35295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Сайт злоумышленника содержит скрытую форму.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110728" y="2487168"/>
            <a:ext cx="3474720" cy="2743200"/>
          </a:xfrm>
          <a:prstGeom prst="roundRect">
            <a:avLst>
              <a:gd name="adj" fmla="val 2333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110728" y="2487168"/>
            <a:ext cx="3474720" cy="5486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311896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pic>
        <p:nvPicPr>
          <p:cNvPr id="27" name="Image 2" descr="Запрос уходит в банк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267004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311896" y="3127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Запрос уходит в банк</a:t>
            </a:r>
            <a:endParaRPr lang="en-US" sz="1280" dirty="0"/>
          </a:p>
        </p:txBody>
      </p:sp>
      <p:sp>
        <p:nvSpPr>
          <p:cNvPr id="29" name="Text 23"/>
          <p:cNvSpPr txBox="1"/>
          <p:nvPr/>
        </p:nvSpPr>
        <p:spPr>
          <a:xfrm>
            <a:off x="8311896" y="352958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Браузер сам прикладывает cookie — перевод выполнен.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8311896" y="4407408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2A121C"/>
          </a:solidFill>
          <a:ln w="10160">
            <a:solidFill>
              <a:srgbClr val="FF4D5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421624" y="446227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50 000 ₽ · ВЫПОЛНЕНО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4087368" y="3749040"/>
            <a:ext cx="265176" cy="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836408" y="3749040"/>
            <a:ext cx="265176" cy="0"/>
          </a:xfrm>
          <a:prstGeom prst="line">
            <a:avLst/>
          </a:prstGeom>
          <a:noFill/>
          <a:ln w="25400">
            <a:solidFill>
              <a:srgbClr val="2E446B"/>
            </a:solidFill>
            <a:prstDash val="solid"/>
            <a:headEnd type="none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612648" y="5394960"/>
            <a:ext cx="10972800" cy="749808"/>
          </a:xfrm>
          <a:prstGeom prst="roundRect">
            <a:avLst>
              <a:gd name="adj" fmla="val 8537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35" name="Image 3" descr="shield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605272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207008" y="5486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2240280" y="5577840"/>
            <a:ext cx="2651760" cy="310896"/>
          </a:xfrm>
          <a:prstGeom prst="roundRect">
            <a:avLst>
              <a:gd name="adj" fmla="val 147059"/>
            </a:avLst>
          </a:prstGeom>
          <a:solidFill>
            <a:srgbClr val="07101F"/>
          </a:solidFill>
          <a:ln w="10160">
            <a:solidFill>
              <a:srgbClr val="35D07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2350008" y="55869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CSRF-токены</a:t>
            </a:r>
            <a:endParaRPr lang="en-US" sz="860" dirty="0"/>
          </a:p>
        </p:txBody>
      </p:sp>
      <p:sp>
        <p:nvSpPr>
          <p:cNvPr id="39" name="Shape 32"/>
          <p:cNvSpPr/>
          <p:nvPr/>
        </p:nvSpPr>
        <p:spPr>
          <a:xfrm>
            <a:off x="5166360" y="5577840"/>
            <a:ext cx="2651760" cy="310896"/>
          </a:xfrm>
          <a:prstGeom prst="roundRect">
            <a:avLst>
              <a:gd name="adj" fmla="val 147059"/>
            </a:avLst>
          </a:prstGeom>
          <a:solidFill>
            <a:srgbClr val="07101F"/>
          </a:solidFill>
          <a:ln w="10160">
            <a:solidFill>
              <a:srgbClr val="35D07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276088" y="55869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 / Referer</a:t>
            </a:r>
            <a:endParaRPr lang="en-US" sz="860" dirty="0"/>
          </a:p>
        </p:txBody>
      </p:sp>
      <p:sp>
        <p:nvSpPr>
          <p:cNvPr id="41" name="Shape 34"/>
          <p:cNvSpPr/>
          <p:nvPr/>
        </p:nvSpPr>
        <p:spPr>
          <a:xfrm>
            <a:off x="8092440" y="5577840"/>
            <a:ext cx="2651760" cy="310896"/>
          </a:xfrm>
          <a:prstGeom prst="roundRect">
            <a:avLst>
              <a:gd name="adj" fmla="val 147059"/>
            </a:avLst>
          </a:prstGeom>
          <a:solidFill>
            <a:srgbClr val="07101F"/>
          </a:solidFill>
          <a:ln w="10160">
            <a:solidFill>
              <a:srgbClr val="35D07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202168" y="558698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SameSite cookie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СТАТИСТИКА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Реальная статистика и другие угрозы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сканеры Barracuda видят на реальных сайтах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14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1883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BARRACUDA NETWORKS · 2026</a:t>
            </a:r>
            <a:endParaRPr lang="en-US" sz="78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22677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Раскрытие информации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12648" y="2569464"/>
            <a:ext cx="4800600" cy="146304"/>
          </a:xfrm>
          <a:prstGeom prst="roundRect">
            <a:avLst>
              <a:gd name="adj" fmla="val 125000"/>
            </a:avLst>
          </a:prstGeom>
          <a:solidFill>
            <a:srgbClr val="13223C"/>
          </a:solidFill>
          <a:ln/>
        </p:spPr>
      </p:sp>
      <p:sp>
        <p:nvSpPr>
          <p:cNvPr id="14" name="Shape 11"/>
          <p:cNvSpPr/>
          <p:nvPr/>
        </p:nvSpPr>
        <p:spPr>
          <a:xfrm>
            <a:off x="612648" y="2569464"/>
            <a:ext cx="4000500" cy="146304"/>
          </a:xfrm>
          <a:prstGeom prst="roundRect">
            <a:avLst>
              <a:gd name="adj" fmla="val 125000"/>
            </a:avLst>
          </a:prstGeom>
          <a:solidFill>
            <a:srgbClr val="FF4D5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532120" y="2468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29352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Подделка бренда / фишинг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12648" y="3236976"/>
            <a:ext cx="4800600" cy="146304"/>
          </a:xfrm>
          <a:prstGeom prst="roundRect">
            <a:avLst>
              <a:gd name="adj" fmla="val 125000"/>
            </a:avLst>
          </a:prstGeom>
          <a:solidFill>
            <a:srgbClr val="13223C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" y="3236976"/>
            <a:ext cx="3840480" cy="146304"/>
          </a:xfrm>
          <a:prstGeom prst="roundRect">
            <a:avLst>
              <a:gd name="adj" fmla="val 125000"/>
            </a:avLst>
          </a:prstGeom>
          <a:solidFill>
            <a:srgbClr val="FF4D5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532120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4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24%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" y="36027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Клиентские атаки (XSS)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612648" y="3904488"/>
            <a:ext cx="4800600" cy="146304"/>
          </a:xfrm>
          <a:prstGeom prst="roundRect">
            <a:avLst>
              <a:gd name="adj" fmla="val 125000"/>
            </a:avLst>
          </a:prstGeom>
          <a:solidFill>
            <a:srgbClr val="13223C"/>
          </a:solidFill>
          <a:ln/>
        </p:spPr>
      </p:sp>
      <p:sp>
        <p:nvSpPr>
          <p:cNvPr id="22" name="Shape 19"/>
          <p:cNvSpPr/>
          <p:nvPr/>
        </p:nvSpPr>
        <p:spPr>
          <a:xfrm>
            <a:off x="612648" y="3904488"/>
            <a:ext cx="2240280" cy="146304"/>
          </a:xfrm>
          <a:prstGeom prst="roundRect">
            <a:avLst>
              <a:gd name="adj" fmla="val 125000"/>
            </a:avLst>
          </a:prstGeom>
          <a:solidFill>
            <a:srgbClr val="F2C14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32120" y="3803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14%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12648" y="42702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Утечка секретов и токенов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12648" y="4572000"/>
            <a:ext cx="4800600" cy="146304"/>
          </a:xfrm>
          <a:prstGeom prst="roundRect">
            <a:avLst>
              <a:gd name="adj" fmla="val 125000"/>
            </a:avLst>
          </a:prstGeom>
          <a:solidFill>
            <a:srgbClr val="13223C"/>
          </a:solidFill>
          <a:ln/>
        </p:spPr>
      </p:sp>
      <p:sp>
        <p:nvSpPr>
          <p:cNvPr id="26" name="Shape 23"/>
          <p:cNvSpPr/>
          <p:nvPr/>
        </p:nvSpPr>
        <p:spPr>
          <a:xfrm>
            <a:off x="612648" y="4572000"/>
            <a:ext cx="1600200" cy="146304"/>
          </a:xfrm>
          <a:prstGeom prst="roundRect">
            <a:avLst>
              <a:gd name="adj" fmla="val 125000"/>
            </a:avLst>
          </a:prstGeom>
          <a:solidFill>
            <a:srgbClr val="5B8DE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532120" y="44714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Прочее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12648" y="5239512"/>
            <a:ext cx="4800600" cy="146304"/>
          </a:xfrm>
          <a:prstGeom prst="roundRect">
            <a:avLst>
              <a:gd name="adj" fmla="val 125000"/>
            </a:avLst>
          </a:prstGeom>
          <a:solidFill>
            <a:srgbClr val="13223C"/>
          </a:solidFill>
          <a:ln/>
        </p:spPr>
      </p:sp>
      <p:sp>
        <p:nvSpPr>
          <p:cNvPr id="30" name="Shape 27"/>
          <p:cNvSpPr/>
          <p:nvPr/>
        </p:nvSpPr>
        <p:spPr>
          <a:xfrm>
            <a:off x="612648" y="5239512"/>
            <a:ext cx="4320540" cy="146304"/>
          </a:xfrm>
          <a:prstGeom prst="roundRect">
            <a:avLst>
              <a:gd name="adj" fmla="val 125000"/>
            </a:avLst>
          </a:prstGeom>
          <a:solidFill>
            <a:srgbClr val="72819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532120" y="51389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27%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12648" y="5989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Barracuda Networks, 2026. Доли категорий в сканированиях.</a:t>
            </a:r>
            <a:endParaRPr lang="en-US" sz="72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1883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Другие угрозы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903720" y="2267712"/>
            <a:ext cx="4663440" cy="1115568"/>
          </a:xfrm>
          <a:prstGeom prst="roundRect">
            <a:avLst>
              <a:gd name="adj" fmla="val 4918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pic>
        <p:nvPicPr>
          <p:cNvPr id="35" name="Image 0" descr="D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50592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7543800" y="23957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DDoS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7543800" y="26609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Тысячи запросов кладут сайт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7543800" y="2962656"/>
            <a:ext cx="2468880" cy="256032"/>
          </a:xfrm>
          <a:prstGeom prst="roundRect">
            <a:avLst>
              <a:gd name="adj" fmla="val 178571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653528" y="297180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· фильтрация</a:t>
            </a:r>
            <a:endParaRPr lang="en-US" sz="720" dirty="0"/>
          </a:p>
        </p:txBody>
      </p:sp>
      <p:sp>
        <p:nvSpPr>
          <p:cNvPr id="40" name="Shape 36"/>
          <p:cNvSpPr/>
          <p:nvPr/>
        </p:nvSpPr>
        <p:spPr>
          <a:xfrm>
            <a:off x="6903720" y="3529584"/>
            <a:ext cx="4663440" cy="1115568"/>
          </a:xfrm>
          <a:prstGeom prst="roundRect">
            <a:avLst>
              <a:gd name="adj" fmla="val 4918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pic>
        <p:nvPicPr>
          <p:cNvPr id="41" name="Image 1" descr="Фишин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712464"/>
            <a:ext cx="329184" cy="329184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543800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Фишинг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7543800" y="3922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Поддельные страницы крадут пароли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7543800" y="4224528"/>
            <a:ext cx="2468880" cy="256032"/>
          </a:xfrm>
          <a:prstGeom prst="roundRect">
            <a:avLst>
              <a:gd name="adj" fmla="val 178571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653528" y="423367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2FA · обучение</a:t>
            </a:r>
            <a:endParaRPr lang="en-US" sz="720" dirty="0"/>
          </a:p>
        </p:txBody>
      </p:sp>
      <p:sp>
        <p:nvSpPr>
          <p:cNvPr id="46" name="Shape 41"/>
          <p:cNvSpPr/>
          <p:nvPr/>
        </p:nvSpPr>
        <p:spPr>
          <a:xfrm>
            <a:off x="6903720" y="4791456"/>
            <a:ext cx="4663440" cy="1115568"/>
          </a:xfrm>
          <a:prstGeom prst="roundRect">
            <a:avLst>
              <a:gd name="adj" fmla="val 4918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pic>
        <p:nvPicPr>
          <p:cNvPr id="47" name="Image 2" descr="SSR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974336"/>
            <a:ext cx="329184" cy="329184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543800" y="4919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SSRF</a:t>
            </a:r>
            <a:endParaRPr lang="en-US" sz="1150" dirty="0"/>
          </a:p>
        </p:txBody>
      </p:sp>
      <p:sp>
        <p:nvSpPr>
          <p:cNvPr id="49" name="Text 43"/>
          <p:cNvSpPr txBox="1"/>
          <p:nvPr/>
        </p:nvSpPr>
        <p:spPr>
          <a:xfrm>
            <a:off x="7543800" y="51846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Сервер сам идёт во внутреннюю сеть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7543800" y="5486400"/>
            <a:ext cx="2468880" cy="256032"/>
          </a:xfrm>
          <a:prstGeom prst="roundRect">
            <a:avLst>
              <a:gd name="adj" fmla="val 178571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653528" y="5495544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spc="2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белые списки · изоляция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0624"/>
            <a:ext cx="182880" cy="32004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b="1" spc="180" kern="0" dirty="0">
                <a:solidFill>
                  <a:srgbClr val="5B8D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ПРАКТИКА</a:t>
            </a:r>
            <a:endParaRPr lang="en-US" sz="82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58521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делать: 9 правил и инструменты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Минимальная программа, которая закрывает большинство рисков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612648" y="1737360"/>
            <a:ext cx="10972800" cy="7315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6455664"/>
            <a:ext cx="10972800" cy="5486"/>
          </a:xfrm>
          <a:prstGeom prst="rect">
            <a:avLst/>
          </a:prstGeom>
          <a:solidFill>
            <a:srgbClr val="2235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140" kern="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САЙТОВ · 2026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24160" y="651967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14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12648" y="1874520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1984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pic>
        <p:nvPicPr>
          <p:cNvPr id="13" name="Image 0" descr="Контроль доступ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20025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" y="2167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доступа</a:t>
            </a:r>
            <a:endParaRPr lang="en-US" sz="102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2423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Права — на сервере, не в интерфейсе.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4315968" y="1874520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53128" y="1984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pic>
        <p:nvPicPr>
          <p:cNvPr id="18" name="Image 1" descr="Валидация ввод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0025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53128" y="2167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Валидация ввода</a:t>
            </a:r>
            <a:endParaRPr lang="en-US" sz="1020" dirty="0"/>
          </a:p>
        </p:txBody>
      </p:sp>
      <p:sp>
        <p:nvSpPr>
          <p:cNvPr id="20" name="Text 15"/>
          <p:cNvSpPr txBox="1"/>
          <p:nvPr/>
        </p:nvSpPr>
        <p:spPr>
          <a:xfrm>
            <a:off x="4453128" y="2423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доверять данным пользователя.</a:t>
            </a:r>
            <a:endParaRPr lang="en-US" sz="820" dirty="0"/>
          </a:p>
        </p:txBody>
      </p:sp>
      <p:sp>
        <p:nvSpPr>
          <p:cNvPr id="21" name="Shape 16"/>
          <p:cNvSpPr/>
          <p:nvPr/>
        </p:nvSpPr>
        <p:spPr>
          <a:xfrm>
            <a:off x="8019288" y="1874520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156448" y="19842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pic>
        <p:nvPicPr>
          <p:cNvPr id="23" name="Image 2" descr="Экранирование вывод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2" y="200253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56448" y="2167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Экранирование вывода</a:t>
            </a:r>
            <a:endParaRPr lang="en-US" sz="1020" dirty="0"/>
          </a:p>
        </p:txBody>
      </p:sp>
      <p:sp>
        <p:nvSpPr>
          <p:cNvPr id="25" name="Text 19"/>
          <p:cNvSpPr txBox="1"/>
          <p:nvPr/>
        </p:nvSpPr>
        <p:spPr>
          <a:xfrm>
            <a:off x="8156448" y="2423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Чистый HTML и контекст.</a:t>
            </a:r>
            <a:endParaRPr lang="en-US" sz="820" dirty="0"/>
          </a:p>
        </p:txBody>
      </p:sp>
      <p:sp>
        <p:nvSpPr>
          <p:cNvPr id="26" name="Shape 20"/>
          <p:cNvSpPr/>
          <p:nvPr/>
        </p:nvSpPr>
        <p:spPr>
          <a:xfrm>
            <a:off x="612648" y="2852928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49808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pic>
        <p:nvPicPr>
          <p:cNvPr id="28" name="Image 3" descr="Хеширование паролей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98094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49808" y="31455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Хеширование паролей</a:t>
            </a:r>
            <a:endParaRPr lang="en-US" sz="1020" dirty="0"/>
          </a:p>
        </p:txBody>
      </p:sp>
      <p:sp>
        <p:nvSpPr>
          <p:cNvPr id="30" name="Text 23"/>
          <p:cNvSpPr txBox="1"/>
          <p:nvPr/>
        </p:nvSpPr>
        <p:spPr>
          <a:xfrm>
            <a:off x="749808" y="3401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/ Argon2, не plaintext.</a:t>
            </a:r>
            <a:endParaRPr lang="en-US" sz="820" dirty="0"/>
          </a:p>
        </p:txBody>
      </p:sp>
      <p:sp>
        <p:nvSpPr>
          <p:cNvPr id="31" name="Shape 24"/>
          <p:cNvSpPr/>
          <p:nvPr/>
        </p:nvSpPr>
        <p:spPr>
          <a:xfrm>
            <a:off x="4315968" y="2852928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453128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  <p:pic>
        <p:nvPicPr>
          <p:cNvPr id="33" name="Image 4" descr="HTTP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98094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53128" y="31455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</a:t>
            </a:r>
            <a:endParaRPr lang="en-US" sz="1020" dirty="0"/>
          </a:p>
        </p:txBody>
      </p:sp>
      <p:sp>
        <p:nvSpPr>
          <p:cNvPr id="35" name="Text 27"/>
          <p:cNvSpPr txBox="1"/>
          <p:nvPr/>
        </p:nvSpPr>
        <p:spPr>
          <a:xfrm>
            <a:off x="4453128" y="3401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Шифрование всего трафика.</a:t>
            </a:r>
            <a:endParaRPr lang="en-US" sz="820" dirty="0"/>
          </a:p>
        </p:txBody>
      </p:sp>
      <p:sp>
        <p:nvSpPr>
          <p:cNvPr id="36" name="Shape 28"/>
          <p:cNvSpPr/>
          <p:nvPr/>
        </p:nvSpPr>
        <p:spPr>
          <a:xfrm>
            <a:off x="8019288" y="2852928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156448" y="29626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50" dirty="0"/>
          </a:p>
        </p:txBody>
      </p:sp>
      <p:pic>
        <p:nvPicPr>
          <p:cNvPr id="38" name="Image 5" descr="Обновления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3112" y="2980944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156448" y="31455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Обновления</a:t>
            </a:r>
            <a:endParaRPr lang="en-US" sz="1020" dirty="0"/>
          </a:p>
        </p:txBody>
      </p:sp>
      <p:sp>
        <p:nvSpPr>
          <p:cNvPr id="40" name="Text 31"/>
          <p:cNvSpPr txBox="1"/>
          <p:nvPr/>
        </p:nvSpPr>
        <p:spPr>
          <a:xfrm>
            <a:off x="8156448" y="3401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CMS, фреймворки, библиотеки.</a:t>
            </a:r>
            <a:endParaRPr lang="en-US" sz="820" dirty="0"/>
          </a:p>
        </p:txBody>
      </p:sp>
      <p:sp>
        <p:nvSpPr>
          <p:cNvPr id="41" name="Shape 32"/>
          <p:cNvSpPr/>
          <p:nvPr/>
        </p:nvSpPr>
        <p:spPr>
          <a:xfrm>
            <a:off x="612648" y="3831336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749808" y="39410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50" dirty="0"/>
          </a:p>
        </p:txBody>
      </p:sp>
      <p:pic>
        <p:nvPicPr>
          <p:cNvPr id="43" name="Image 6" descr="Гигиена настроек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6472" y="3959352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49808" y="4123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Гигиена настроек</a:t>
            </a:r>
            <a:endParaRPr lang="en-US" sz="1020" dirty="0"/>
          </a:p>
        </p:txBody>
      </p:sp>
      <p:sp>
        <p:nvSpPr>
          <p:cNvPr id="45" name="Text 35"/>
          <p:cNvSpPr txBox="1"/>
          <p:nvPr/>
        </p:nvSpPr>
        <p:spPr>
          <a:xfrm>
            <a:off x="749808" y="43799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Пароли, бакеты, debug.</a:t>
            </a:r>
            <a:endParaRPr lang="en-US" sz="820" dirty="0"/>
          </a:p>
        </p:txBody>
      </p:sp>
      <p:sp>
        <p:nvSpPr>
          <p:cNvPr id="46" name="Shape 36"/>
          <p:cNvSpPr/>
          <p:nvPr/>
        </p:nvSpPr>
        <p:spPr>
          <a:xfrm>
            <a:off x="4315968" y="3831336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47" name="Text 37"/>
          <p:cNvSpPr txBox="1"/>
          <p:nvPr/>
        </p:nvSpPr>
        <p:spPr>
          <a:xfrm>
            <a:off x="4453128" y="39410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750" dirty="0"/>
          </a:p>
        </p:txBody>
      </p:sp>
      <p:pic>
        <p:nvPicPr>
          <p:cNvPr id="48" name="Image 7" descr="Сканирование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3959352"/>
            <a:ext cx="256032" cy="256032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4453128" y="4123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Сканирование</a:t>
            </a:r>
            <a:endParaRPr lang="en-US" sz="1020" dirty="0"/>
          </a:p>
        </p:txBody>
      </p:sp>
      <p:sp>
        <p:nvSpPr>
          <p:cNvPr id="50" name="Text 39"/>
          <p:cNvSpPr txBox="1"/>
          <p:nvPr/>
        </p:nvSpPr>
        <p:spPr>
          <a:xfrm>
            <a:off x="4453128" y="43799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SAST, DAST, пентесты.</a:t>
            </a:r>
            <a:endParaRPr lang="en-US" sz="820" dirty="0"/>
          </a:p>
        </p:txBody>
      </p:sp>
      <p:sp>
        <p:nvSpPr>
          <p:cNvPr id="51" name="Shape 40"/>
          <p:cNvSpPr/>
          <p:nvPr/>
        </p:nvSpPr>
        <p:spPr>
          <a:xfrm>
            <a:off x="8019288" y="3831336"/>
            <a:ext cx="3566160" cy="886968"/>
          </a:xfrm>
          <a:prstGeom prst="roundRect">
            <a:avLst>
              <a:gd name="adj" fmla="val 5155"/>
            </a:avLst>
          </a:prstGeom>
          <a:solidFill>
            <a:srgbClr val="0E1B31"/>
          </a:solidFill>
          <a:ln w="10160">
            <a:solidFill>
              <a:srgbClr val="223556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8156448" y="39410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750" dirty="0"/>
          </a:p>
        </p:txBody>
      </p:sp>
      <p:pic>
        <p:nvPicPr>
          <p:cNvPr id="53" name="Image 8" descr="Обучение команды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83112" y="3959352"/>
            <a:ext cx="256032" cy="25603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8156448" y="412394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Обучение команды</a:t>
            </a:r>
            <a:endParaRPr lang="en-US" sz="1020" dirty="0"/>
          </a:p>
        </p:txBody>
      </p:sp>
      <p:sp>
        <p:nvSpPr>
          <p:cNvPr id="55" name="Text 43"/>
          <p:cNvSpPr txBox="1"/>
          <p:nvPr/>
        </p:nvSpPr>
        <p:spPr>
          <a:xfrm>
            <a:off x="8156448" y="43799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A7B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— это процесс.</a:t>
            </a:r>
            <a:endParaRPr lang="en-US" sz="820" dirty="0"/>
          </a:p>
        </p:txBody>
      </p:sp>
      <p:sp>
        <p:nvSpPr>
          <p:cNvPr id="56" name="Text 44"/>
          <p:cNvSpPr txBox="1"/>
          <p:nvPr/>
        </p:nvSpPr>
        <p:spPr>
          <a:xfrm>
            <a:off x="612648" y="4956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Инструменты</a:t>
            </a:r>
            <a:endParaRPr lang="en-US" sz="1200" dirty="0"/>
          </a:p>
        </p:txBody>
      </p:sp>
      <p:sp>
        <p:nvSpPr>
          <p:cNvPr id="57" name="Shape 45"/>
          <p:cNvSpPr/>
          <p:nvPr/>
        </p:nvSpPr>
        <p:spPr>
          <a:xfrm>
            <a:off x="612648" y="5248656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58" name="Image 9" descr="DAS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376672"/>
            <a:ext cx="256032" cy="256032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1088136" y="5358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DAST</a:t>
            </a:r>
            <a:endParaRPr lang="en-US" sz="940" dirty="0"/>
          </a:p>
        </p:txBody>
      </p:sp>
      <p:sp>
        <p:nvSpPr>
          <p:cNvPr id="60" name="Text 47"/>
          <p:cNvSpPr txBox="1"/>
          <p:nvPr/>
        </p:nvSpPr>
        <p:spPr>
          <a:xfrm>
            <a:off x="749808" y="5687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ZAP · Burp · Nessus</a:t>
            </a:r>
            <a:endParaRPr lang="en-US" sz="800" dirty="0"/>
          </a:p>
        </p:txBody>
      </p:sp>
      <p:sp>
        <p:nvSpPr>
          <p:cNvPr id="61" name="Shape 48"/>
          <p:cNvSpPr/>
          <p:nvPr/>
        </p:nvSpPr>
        <p:spPr>
          <a:xfrm>
            <a:off x="3374136" y="5248656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62" name="Image 10" descr="Зависимости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1296" y="5376672"/>
            <a:ext cx="256032" cy="256032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3849624" y="5358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Зависимости</a:t>
            </a:r>
            <a:endParaRPr lang="en-US" sz="940" dirty="0"/>
          </a:p>
        </p:txBody>
      </p:sp>
      <p:sp>
        <p:nvSpPr>
          <p:cNvPr id="64" name="Text 50"/>
          <p:cNvSpPr txBox="1"/>
          <p:nvPr/>
        </p:nvSpPr>
        <p:spPr>
          <a:xfrm>
            <a:off x="3511296" y="5687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Snyk · Dependabot · Dependency-Check</a:t>
            </a:r>
            <a:endParaRPr lang="en-US" sz="800" dirty="0"/>
          </a:p>
        </p:txBody>
      </p:sp>
      <p:sp>
        <p:nvSpPr>
          <p:cNvPr id="65" name="Shape 51"/>
          <p:cNvSpPr/>
          <p:nvPr/>
        </p:nvSpPr>
        <p:spPr>
          <a:xfrm>
            <a:off x="6135624" y="5248656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66" name="Image 11" descr="SAS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5376672"/>
            <a:ext cx="256032" cy="256032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6611112" y="5358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SAST</a:t>
            </a:r>
            <a:endParaRPr lang="en-US" sz="940" dirty="0"/>
          </a:p>
        </p:txBody>
      </p:sp>
      <p:sp>
        <p:nvSpPr>
          <p:cNvPr id="68" name="Text 53"/>
          <p:cNvSpPr txBox="1"/>
          <p:nvPr/>
        </p:nvSpPr>
        <p:spPr>
          <a:xfrm>
            <a:off x="6272784" y="5687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SonarQube · Semgrep</a:t>
            </a:r>
            <a:endParaRPr lang="en-US" sz="800" dirty="0"/>
          </a:p>
        </p:txBody>
      </p:sp>
      <p:sp>
        <p:nvSpPr>
          <p:cNvPr id="69" name="Shape 54"/>
          <p:cNvSpPr/>
          <p:nvPr/>
        </p:nvSpPr>
        <p:spPr>
          <a:xfrm>
            <a:off x="8897112" y="5248656"/>
            <a:ext cx="2633472" cy="1005840"/>
          </a:xfrm>
          <a:prstGeom prst="roundRect">
            <a:avLst>
              <a:gd name="adj" fmla="val 5455"/>
            </a:avLst>
          </a:prstGeom>
          <a:solidFill>
            <a:srgbClr val="0E2A22"/>
          </a:solidFill>
          <a:ln w="10160">
            <a:solidFill>
              <a:srgbClr val="1B5A3E"/>
            </a:solidFill>
            <a:prstDash val="solid"/>
          </a:ln>
        </p:spPr>
      </p:sp>
      <p:pic>
        <p:nvPicPr>
          <p:cNvPr id="70" name="Image 12" descr="Мониторинг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4272" y="5376672"/>
            <a:ext cx="256032" cy="256032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9372600" y="53583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Мониторинг</a:t>
            </a:r>
            <a:endParaRPr lang="en-US" sz="940" dirty="0"/>
          </a:p>
        </p:txBody>
      </p:sp>
      <p:sp>
        <p:nvSpPr>
          <p:cNvPr id="72" name="Text 56"/>
          <p:cNvSpPr txBox="1"/>
          <p:nvPr/>
        </p:nvSpPr>
        <p:spPr>
          <a:xfrm>
            <a:off x="9034272" y="5687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 · Cloudflare · AWS WAF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тарый замок на металлической решётк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99632" y="1005840"/>
            <a:ext cx="32004" cy="507492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92240" y="960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80" kern="0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ВЫВОД</a:t>
            </a:r>
            <a:endParaRPr lang="en-US" sz="860" dirty="0"/>
          </a:p>
        </p:txBody>
      </p:sp>
      <p:sp>
        <p:nvSpPr>
          <p:cNvPr id="5" name="Text 2"/>
          <p:cNvSpPr txBox="1"/>
          <p:nvPr/>
        </p:nvSpPr>
        <p:spPr>
          <a:xfrm>
            <a:off x="6473952" y="126187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Безопасность —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473952" y="177393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путь, а не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73952" y="22860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3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пункт назначения.</a:t>
            </a:r>
            <a:endParaRPr lang="en-US" sz="3200" dirty="0"/>
          </a:p>
        </p:txBody>
      </p:sp>
      <p:pic>
        <p:nvPicPr>
          <p:cNvPr id="8" name="Image 1" descr="Угрозы смещаются к конфигурации и цепочке поставок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182112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84848" y="315468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7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Угрозы смещаются к конфигурации и цепочке поставок.</a:t>
            </a:r>
            <a:endParaRPr lang="en-US" sz="970" dirty="0"/>
          </a:p>
        </p:txBody>
      </p:sp>
      <p:pic>
        <p:nvPicPr>
          <p:cNvPr id="10" name="Image 2" descr="Большинство проблем — базовые и предотвратимые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63931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84848" y="361188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7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Большинство проблем — базовые и предотвратимые.</a:t>
            </a:r>
            <a:endParaRPr lang="en-US" sz="970" dirty="0"/>
          </a:p>
        </p:txBody>
      </p:sp>
      <p:pic>
        <p:nvPicPr>
          <p:cNvPr id="12" name="Image 3" descr="Zero Trust: «не доверяй, но проверяй»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9651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84848" y="406908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7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Trust: «не доверяй, но проверяй».</a:t>
            </a:r>
            <a:endParaRPr lang="en-US" sz="970" dirty="0"/>
          </a:p>
        </p:txBody>
      </p:sp>
      <p:pic>
        <p:nvPicPr>
          <p:cNvPr id="14" name="Image 4" descr="Начните с контроля доступа и гигиены настроек — 80% результата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55371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784848" y="452628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7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Начните с контроля доступа и гигиены настроек — 80% результата.</a:t>
            </a:r>
            <a:endParaRPr lang="en-US" sz="970" dirty="0"/>
          </a:p>
        </p:txBody>
      </p:sp>
      <p:pic>
        <p:nvPicPr>
          <p:cNvPr id="16" name="Image 5" descr="Регулярные пентесты — залог спокойного сна.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01091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784848" y="4983480"/>
            <a:ext cx="4800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70" dirty="0">
                <a:solidFill>
                  <a:srgbClr val="F2F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Регулярные пентесты — залог спокойного сна.</a:t>
            </a:r>
            <a:endParaRPr lang="en-US" sz="970" dirty="0"/>
          </a:p>
        </p:txBody>
      </p:sp>
      <p:sp>
        <p:nvSpPr>
          <p:cNvPr id="18" name="Text 10"/>
          <p:cNvSpPr txBox="1"/>
          <p:nvPr/>
        </p:nvSpPr>
        <p:spPr>
          <a:xfrm>
            <a:off x="6473952" y="5596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Спасибо за внимание!</a:t>
            </a:r>
            <a:endParaRPr lang="en-US" sz="2200" dirty="0"/>
          </a:p>
        </p:txBody>
      </p:sp>
      <p:sp>
        <p:nvSpPr>
          <p:cNvPr id="19" name="Text 11"/>
          <p:cNvSpPr txBox="1"/>
          <p:nvPr/>
        </p:nvSpPr>
        <p:spPr>
          <a:xfrm>
            <a:off x="6473952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20" dirty="0">
                <a:solidFill>
                  <a:srgbClr val="7281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Изображения: BalticServers (CC BY-SA 3.0), Ivan Radic (CC BY 2.0), RustCodeOnScreen (CC0) / Wikimedia Commons.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сайтов и распространённые уязвимости</dc:title>
  <dc:subject>Безопасность сайтов и распространённые уязвимости</dc:subject>
  <dc:creator>Учебная презентация</dc:creator>
  <cp:lastModifiedBy>Учебная презентация</cp:lastModifiedBy>
  <cp:revision>1</cp:revision>
  <dcterms:created xsi:type="dcterms:W3CDTF">2026-10-21T18:16:36Z</dcterms:created>
  <dcterms:modified xsi:type="dcterms:W3CDTF">2026-10-21T18:16:36Z</dcterms:modified>
</cp:coreProperties>
</file>